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8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使用說明書" id="{622230AF-4FE5-4987-BD97-1687BF5EE257}">
          <p14:sldIdLst>
            <p14:sldId id="256"/>
            <p14:sldId id="258"/>
          </p14:sldIdLst>
        </p14:section>
        <p14:section name="使用者篇" id="{0EB06609-05DA-47E9-9416-A598CA83958C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5A82"/>
    <a:srgbClr val="B5651D"/>
    <a:srgbClr val="CC6600"/>
    <a:srgbClr val="FFFBEB"/>
    <a:srgbClr val="FDE6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8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41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18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D3D89C86-71A8-B587-1CDF-0DD315AEF70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15EE5AE-EE4C-76C6-D301-97326DD6F2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5C5D28-F0D0-4594-A27C-571BA3E96410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0BBC5FE-3D59-6D48-0FF5-97A9E79F48C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6363A83-CE61-16B6-2D65-631A330D146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BE63AA-9F6B-469E-B833-BE7B2E5E13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7246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96113-7302-4536-B4C8-A01590DC9D4A}" type="datetimeFigureOut">
              <a:rPr lang="zh-TW" altLang="en-US" smtClean="0"/>
              <a:t>2026/7/6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F1725F-9264-4466-B053-0C0DD1517C6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9179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F1725F-9264-4466-B053-0C0DD1517C6B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72912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46D537-A784-F6DA-1381-145AB6B58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0DDABD8-CE7D-7E1A-9AB8-11BDC636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85A94E-ACA5-2F3C-D499-DB8D8740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1D979AEB-463E-7361-F3FA-462D055255AF}"/>
              </a:ext>
            </a:extLst>
          </p:cNvPr>
          <p:cNvSpPr/>
          <p:nvPr userDrawn="1"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02817CD9-DE39-4964-E386-F7092E4231EA}"/>
              </a:ext>
            </a:extLst>
          </p:cNvPr>
          <p:cNvSpPr/>
          <p:nvPr userDrawn="1"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C73A8D8C-1646-CDF9-1D28-092111247FF0}"/>
              </a:ext>
            </a:extLst>
          </p:cNvPr>
          <p:cNvSpPr/>
          <p:nvPr userDrawn="1"/>
        </p:nvSpPr>
        <p:spPr>
          <a:xfrm>
            <a:off x="1005840" y="1143000"/>
            <a:ext cx="822960" cy="82296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CECD00AE-1EA0-F85A-AC68-77D42D49DA18}"/>
              </a:ext>
            </a:extLst>
          </p:cNvPr>
          <p:cNvSpPr/>
          <p:nvPr userDrawn="1"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48A90EF5-E55E-3CE6-7EB3-429A9A6378A2}"/>
              </a:ext>
            </a:extLst>
          </p:cNvPr>
          <p:cNvSpPr/>
          <p:nvPr userDrawn="1"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C654E1D-8AC8-B81A-4F39-15A4838437A2}"/>
              </a:ext>
            </a:extLst>
          </p:cNvPr>
          <p:cNvSpPr/>
          <p:nvPr userDrawn="1"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582C14D2-0380-2123-BC8F-4BF89E023B30}"/>
              </a:ext>
            </a:extLst>
          </p:cNvPr>
          <p:cNvSpPr/>
          <p:nvPr userDrawn="1"/>
        </p:nvSpPr>
        <p:spPr>
          <a:xfrm>
            <a:off x="914400" y="4572000"/>
            <a:ext cx="21945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8598484C-D958-744B-AAD1-D7370BB414F2}"/>
              </a:ext>
            </a:extLst>
          </p:cNvPr>
          <p:cNvSpPr/>
          <p:nvPr userDrawn="1"/>
        </p:nvSpPr>
        <p:spPr>
          <a:xfrm>
            <a:off x="838200" y="59677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Shape 9">
            <a:extLst>
              <a:ext uri="{FF2B5EF4-FFF2-40B4-BE49-F238E27FC236}">
                <a16:creationId xmlns:a16="http://schemas.microsoft.com/office/drawing/2014/main" id="{3446C0E3-C395-1BE7-2607-9062466D1363}"/>
              </a:ext>
            </a:extLst>
          </p:cNvPr>
          <p:cNvSpPr/>
          <p:nvPr userDrawn="1"/>
        </p:nvSpPr>
        <p:spPr>
          <a:xfrm>
            <a:off x="798545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14223E60-9E53-DC0A-A72B-04CCB428E1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64825" y="5200010"/>
            <a:ext cx="408188" cy="408188"/>
          </a:xfrm>
          <a:prstGeom prst="rect">
            <a:avLst/>
          </a:prstGeom>
          <a:noFill/>
        </p:spPr>
      </p:pic>
      <p:sp>
        <p:nvSpPr>
          <p:cNvPr id="25" name="Shape 10">
            <a:extLst>
              <a:ext uri="{FF2B5EF4-FFF2-40B4-BE49-F238E27FC236}">
                <a16:creationId xmlns:a16="http://schemas.microsoft.com/office/drawing/2014/main" id="{B2E95F54-8ABB-6DCE-CB30-F5AFAEA3C734}"/>
              </a:ext>
            </a:extLst>
          </p:cNvPr>
          <p:cNvSpPr/>
          <p:nvPr userDrawn="1"/>
        </p:nvSpPr>
        <p:spPr>
          <a:xfrm>
            <a:off x="876269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103C151-E109-6BF2-6DBB-8F46955A1AA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42065" y="5200010"/>
            <a:ext cx="408188" cy="408188"/>
          </a:xfrm>
          <a:prstGeom prst="rect">
            <a:avLst/>
          </a:prstGeom>
        </p:spPr>
      </p:pic>
      <p:sp>
        <p:nvSpPr>
          <p:cNvPr id="27" name="Shape 11">
            <a:extLst>
              <a:ext uri="{FF2B5EF4-FFF2-40B4-BE49-F238E27FC236}">
                <a16:creationId xmlns:a16="http://schemas.microsoft.com/office/drawing/2014/main" id="{B81C9957-F68A-39D5-2594-8C641081DF2E}"/>
              </a:ext>
            </a:extLst>
          </p:cNvPr>
          <p:cNvSpPr/>
          <p:nvPr userDrawn="1"/>
        </p:nvSpPr>
        <p:spPr>
          <a:xfrm>
            <a:off x="953993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8" name="Image 2" descr="preencoded.png">
            <a:extLst>
              <a:ext uri="{FF2B5EF4-FFF2-40B4-BE49-F238E27FC236}">
                <a16:creationId xmlns:a16="http://schemas.microsoft.com/office/drawing/2014/main" id="{635CB1F9-56F1-6E7F-2A96-5DE912982C1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619305" y="5200010"/>
            <a:ext cx="408188" cy="408188"/>
          </a:xfrm>
          <a:prstGeom prst="rect">
            <a:avLst/>
          </a:prstGeom>
        </p:spPr>
      </p:pic>
      <p:sp>
        <p:nvSpPr>
          <p:cNvPr id="29" name="Shape 12">
            <a:extLst>
              <a:ext uri="{FF2B5EF4-FFF2-40B4-BE49-F238E27FC236}">
                <a16:creationId xmlns:a16="http://schemas.microsoft.com/office/drawing/2014/main" id="{F306B156-2009-AA8E-C559-12305344A0C6}"/>
              </a:ext>
            </a:extLst>
          </p:cNvPr>
          <p:cNvSpPr/>
          <p:nvPr userDrawn="1"/>
        </p:nvSpPr>
        <p:spPr>
          <a:xfrm>
            <a:off x="1031717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0" name="Image 3" descr="preencoded.png">
            <a:extLst>
              <a:ext uri="{FF2B5EF4-FFF2-40B4-BE49-F238E27FC236}">
                <a16:creationId xmlns:a16="http://schemas.microsoft.com/office/drawing/2014/main" id="{BBA4EB60-8867-F0A9-0B90-A56C6F0D5D5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396545" y="5200010"/>
            <a:ext cx="408188" cy="408188"/>
          </a:xfrm>
          <a:prstGeom prst="rect">
            <a:avLst/>
          </a:prstGeom>
        </p:spPr>
      </p:pic>
      <p:sp>
        <p:nvSpPr>
          <p:cNvPr id="31" name="Shape 13">
            <a:extLst>
              <a:ext uri="{FF2B5EF4-FFF2-40B4-BE49-F238E27FC236}">
                <a16:creationId xmlns:a16="http://schemas.microsoft.com/office/drawing/2014/main" id="{C1A6C0BD-ED12-01DB-3362-DC74C30CB9B0}"/>
              </a:ext>
            </a:extLst>
          </p:cNvPr>
          <p:cNvSpPr/>
          <p:nvPr userDrawn="1"/>
        </p:nvSpPr>
        <p:spPr>
          <a:xfrm>
            <a:off x="11094415" y="5120640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32" name="Image 4" descr="preencoded.png">
            <a:extLst>
              <a:ext uri="{FF2B5EF4-FFF2-40B4-BE49-F238E27FC236}">
                <a16:creationId xmlns:a16="http://schemas.microsoft.com/office/drawing/2014/main" id="{308BC347-D775-22A8-09D4-A1A17FB6C48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1173785" y="5200010"/>
            <a:ext cx="408188" cy="408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4233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投影片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46D537-A784-F6DA-1381-145AB6B58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0DDABD8-CE7D-7E1A-9AB8-11BDC636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085A94E-ACA5-2F3C-D499-DB8D8740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1D979AEB-463E-7361-F3FA-462D055255AF}"/>
              </a:ext>
            </a:extLst>
          </p:cNvPr>
          <p:cNvSpPr/>
          <p:nvPr userDrawn="1"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02817CD9-DE39-4964-E386-F7092E4231EA}"/>
              </a:ext>
            </a:extLst>
          </p:cNvPr>
          <p:cNvSpPr/>
          <p:nvPr userDrawn="1"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CECD00AE-1EA0-F85A-AC68-77D42D49DA18}"/>
              </a:ext>
            </a:extLst>
          </p:cNvPr>
          <p:cNvSpPr/>
          <p:nvPr userDrawn="1"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48A90EF5-E55E-3CE6-7EB3-429A9A6378A2}"/>
              </a:ext>
            </a:extLst>
          </p:cNvPr>
          <p:cNvSpPr/>
          <p:nvPr userDrawn="1"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BC654E1D-8AC8-B81A-4F39-15A4838437A2}"/>
              </a:ext>
            </a:extLst>
          </p:cNvPr>
          <p:cNvSpPr/>
          <p:nvPr userDrawn="1"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8598484C-D958-744B-AAD1-D7370BB414F2}"/>
              </a:ext>
            </a:extLst>
          </p:cNvPr>
          <p:cNvSpPr/>
          <p:nvPr userDrawn="1"/>
        </p:nvSpPr>
        <p:spPr>
          <a:xfrm>
            <a:off x="838200" y="59677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35B541B4-951B-CC0D-4951-FEF6EDC3A450}"/>
              </a:ext>
            </a:extLst>
          </p:cNvPr>
          <p:cNvSpPr/>
          <p:nvPr userDrawn="1"/>
        </p:nvSpPr>
        <p:spPr>
          <a:xfrm>
            <a:off x="1234440" y="2560320"/>
            <a:ext cx="1371600" cy="1371600"/>
          </a:xfrm>
          <a:prstGeom prst="ellipse">
            <a:avLst/>
          </a:prstGeom>
          <a:gradFill flip="none" rotWithShape="1">
            <a:gsLst>
              <a:gs pos="0">
                <a:srgbClr val="1C7293">
                  <a:shade val="30000"/>
                  <a:satMod val="115000"/>
                </a:srgbClr>
              </a:gs>
              <a:gs pos="50000">
                <a:srgbClr val="1C7293">
                  <a:shade val="67500"/>
                  <a:satMod val="115000"/>
                </a:srgbClr>
              </a:gs>
              <a:gs pos="100000">
                <a:srgbClr val="1C7293">
                  <a:shade val="100000"/>
                  <a:satMod val="115000"/>
                </a:srgbClr>
              </a:gs>
            </a:gsLst>
            <a:lin ang="13500000" scaled="1"/>
            <a:tileRect/>
          </a:gradFill>
          <a:ln/>
        </p:spPr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76451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AFDB56A-FBA2-D8EB-B13F-06C880C54B7B}"/>
              </a:ext>
            </a:extLst>
          </p:cNvPr>
          <p:cNvSpPr/>
          <p:nvPr userDrawn="1"/>
        </p:nvSpPr>
        <p:spPr>
          <a:xfrm>
            <a:off x="14173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3FCA43-1246-80D0-324E-89E0518C5209}"/>
              </a:ext>
            </a:extLst>
          </p:cNvPr>
          <p:cNvSpPr/>
          <p:nvPr userDrawn="1"/>
        </p:nvSpPr>
        <p:spPr>
          <a:xfrm>
            <a:off x="1417320" y="78638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DD23F13-449C-5CFC-A014-BE5FA696C5CE}"/>
              </a:ext>
            </a:extLst>
          </p:cNvPr>
          <p:cNvSpPr/>
          <p:nvPr userDrawn="1"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A4FB9ECC-1C95-6CBE-8AC2-66E33FF1B2EF}"/>
              </a:ext>
            </a:extLst>
          </p:cNvPr>
          <p:cNvSpPr/>
          <p:nvPr userDrawn="1"/>
        </p:nvSpPr>
        <p:spPr>
          <a:xfrm>
            <a:off x="412955" y="64017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威志雲端｜簡易 </a:t>
            </a:r>
            <a:r>
              <a:rPr lang="en-US" altLang="zh-TW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</a:t>
            </a: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系統說明書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F236C17E-12FB-26D3-E491-E0538997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4BFB2381-8184-45B5-ADDF-E81116BDA999}" type="slidenum">
              <a:rPr lang="zh-TW" altLang="en-US" smtClean="0"/>
              <a:pPr/>
              <a:t>‹#›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FFA9774C-F6C4-15AE-410D-3416AC460770}"/>
              </a:ext>
            </a:extLst>
          </p:cNvPr>
          <p:cNvSpPr/>
          <p:nvPr userDrawn="1"/>
        </p:nvSpPr>
        <p:spPr>
          <a:xfrm>
            <a:off x="585216" y="539496"/>
            <a:ext cx="658368" cy="658368"/>
          </a:xfrm>
          <a:prstGeom prst="ellipse">
            <a:avLst/>
          </a:prstGeom>
          <a:solidFill>
            <a:srgbClr val="E6F1F5"/>
          </a:solidFill>
          <a:ln/>
        </p:spPr>
      </p:sp>
    </p:spTree>
    <p:extLst>
      <p:ext uri="{BB962C8B-B14F-4D97-AF65-F5344CB8AC3E}">
        <p14:creationId xmlns:p14="http://schemas.microsoft.com/office/powerpoint/2010/main" val="1118289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AFDB56A-FBA2-D8EB-B13F-06C880C54B7B}"/>
              </a:ext>
            </a:extLst>
          </p:cNvPr>
          <p:cNvSpPr/>
          <p:nvPr userDrawn="1"/>
        </p:nvSpPr>
        <p:spPr>
          <a:xfrm>
            <a:off x="14173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3FCA43-1246-80D0-324E-89E0518C5209}"/>
              </a:ext>
            </a:extLst>
          </p:cNvPr>
          <p:cNvSpPr/>
          <p:nvPr userDrawn="1"/>
        </p:nvSpPr>
        <p:spPr>
          <a:xfrm>
            <a:off x="1417320" y="78638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DD23F13-449C-5CFC-A014-BE5FA696C5CE}"/>
              </a:ext>
            </a:extLst>
          </p:cNvPr>
          <p:cNvSpPr/>
          <p:nvPr userDrawn="1"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A4FB9ECC-1C95-6CBE-8AC2-66E33FF1B2EF}"/>
              </a:ext>
            </a:extLst>
          </p:cNvPr>
          <p:cNvSpPr/>
          <p:nvPr userDrawn="1"/>
        </p:nvSpPr>
        <p:spPr>
          <a:xfrm>
            <a:off x="412955" y="64017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威志雲端｜簡易 </a:t>
            </a:r>
            <a:r>
              <a:rPr lang="en-US" altLang="zh-TW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</a:t>
            </a: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系統說明書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F236C17E-12FB-26D3-E491-E0538997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4BFB2381-8184-45B5-ADDF-E81116BDA999}" type="slidenum">
              <a:rPr lang="zh-TW" altLang="en-US" smtClean="0"/>
              <a:pPr/>
              <a:t>‹#›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0">
            <a:extLst>
              <a:ext uri="{FF2B5EF4-FFF2-40B4-BE49-F238E27FC236}">
                <a16:creationId xmlns:a16="http://schemas.microsoft.com/office/drawing/2014/main" id="{19BBA340-2EE4-3BA6-C11D-225093ADFA14}"/>
              </a:ext>
            </a:extLst>
          </p:cNvPr>
          <p:cNvSpPr/>
          <p:nvPr userDrawn="1"/>
        </p:nvSpPr>
        <p:spPr>
          <a:xfrm>
            <a:off x="10554484" y="554736"/>
            <a:ext cx="997131" cy="320040"/>
          </a:xfrm>
          <a:prstGeom prst="roundRect">
            <a:avLst>
              <a:gd name="adj" fmla="val 27379"/>
            </a:avLst>
          </a:prstGeom>
          <a:solidFill>
            <a:srgbClr val="065A82"/>
          </a:solidFill>
          <a:ln/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 err="1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開發者篇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FFA9774C-F6C4-15AE-410D-3416AC460770}"/>
              </a:ext>
            </a:extLst>
          </p:cNvPr>
          <p:cNvSpPr/>
          <p:nvPr userDrawn="1"/>
        </p:nvSpPr>
        <p:spPr>
          <a:xfrm>
            <a:off x="585216" y="539496"/>
            <a:ext cx="658368" cy="658368"/>
          </a:xfrm>
          <a:prstGeom prst="ellipse">
            <a:avLst/>
          </a:prstGeom>
          <a:solidFill>
            <a:srgbClr val="E6F1F5"/>
          </a:solidFill>
          <a:ln/>
        </p:spPr>
      </p:sp>
    </p:spTree>
    <p:extLst>
      <p:ext uri="{BB962C8B-B14F-4D97-AF65-F5344CB8AC3E}">
        <p14:creationId xmlns:p14="http://schemas.microsoft.com/office/powerpoint/2010/main" val="4291143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投影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AFDB56A-FBA2-D8EB-B13F-06C880C54B7B}"/>
              </a:ext>
            </a:extLst>
          </p:cNvPr>
          <p:cNvSpPr/>
          <p:nvPr userDrawn="1"/>
        </p:nvSpPr>
        <p:spPr>
          <a:xfrm>
            <a:off x="141732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3FCA43-1246-80D0-324E-89E0518C5209}"/>
              </a:ext>
            </a:extLst>
          </p:cNvPr>
          <p:cNvSpPr/>
          <p:nvPr userDrawn="1"/>
        </p:nvSpPr>
        <p:spPr>
          <a:xfrm>
            <a:off x="1417320" y="786384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DDD23F13-449C-5CFC-A014-BE5FA696C5CE}"/>
              </a:ext>
            </a:extLst>
          </p:cNvPr>
          <p:cNvSpPr/>
          <p:nvPr userDrawn="1"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14">
            <a:extLst>
              <a:ext uri="{FF2B5EF4-FFF2-40B4-BE49-F238E27FC236}">
                <a16:creationId xmlns:a16="http://schemas.microsoft.com/office/drawing/2014/main" id="{A4FB9ECC-1C95-6CBE-8AC2-66E33FF1B2EF}"/>
              </a:ext>
            </a:extLst>
          </p:cNvPr>
          <p:cNvSpPr/>
          <p:nvPr userDrawn="1"/>
        </p:nvSpPr>
        <p:spPr>
          <a:xfrm>
            <a:off x="412955" y="64017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威志雲端｜簡易 </a:t>
            </a:r>
            <a:r>
              <a:rPr lang="en-US" altLang="zh-TW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</a:t>
            </a:r>
            <a:r>
              <a:rPr lang="zh-TW" altLang="en-US" sz="1000" dirty="0">
                <a:solidFill>
                  <a:srgbClr val="64748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系統說明書</a:t>
            </a:r>
          </a:p>
        </p:txBody>
      </p:sp>
      <p:sp>
        <p:nvSpPr>
          <p:cNvPr id="10" name="投影片編號版面配置區 5">
            <a:extLst>
              <a:ext uri="{FF2B5EF4-FFF2-40B4-BE49-F238E27FC236}">
                <a16:creationId xmlns:a16="http://schemas.microsoft.com/office/drawing/2014/main" id="{F236C17E-12FB-26D3-E491-E0538997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fld id="{4BFB2381-8184-45B5-ADDF-E81116BDA999}" type="slidenum">
              <a:rPr lang="zh-TW" altLang="en-US" smtClean="0"/>
              <a:pPr/>
              <a:t>‹#›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0">
            <a:extLst>
              <a:ext uri="{FF2B5EF4-FFF2-40B4-BE49-F238E27FC236}">
                <a16:creationId xmlns:a16="http://schemas.microsoft.com/office/drawing/2014/main" id="{31A73E0B-9D8C-9014-5CA4-8F218DC5227A}"/>
              </a:ext>
            </a:extLst>
          </p:cNvPr>
          <p:cNvSpPr/>
          <p:nvPr userDrawn="1"/>
        </p:nvSpPr>
        <p:spPr>
          <a:xfrm>
            <a:off x="10554484" y="554736"/>
            <a:ext cx="997131" cy="320040"/>
          </a:xfrm>
          <a:prstGeom prst="roundRect">
            <a:avLst>
              <a:gd name="adj" fmla="val 27379"/>
            </a:avLst>
          </a:prstGeom>
          <a:solidFill>
            <a:srgbClr val="FFC000"/>
          </a:solidFill>
          <a:ln/>
        </p:spPr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使用者篇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Shape 0">
            <a:extLst>
              <a:ext uri="{FF2B5EF4-FFF2-40B4-BE49-F238E27FC236}">
                <a16:creationId xmlns:a16="http://schemas.microsoft.com/office/drawing/2014/main" id="{D70D0DDC-4F89-6149-23BF-ABA1536EEF9F}"/>
              </a:ext>
            </a:extLst>
          </p:cNvPr>
          <p:cNvSpPr/>
          <p:nvPr userDrawn="1"/>
        </p:nvSpPr>
        <p:spPr>
          <a:xfrm>
            <a:off x="585216" y="539496"/>
            <a:ext cx="658368" cy="658368"/>
          </a:xfrm>
          <a:prstGeom prst="ellipse">
            <a:avLst/>
          </a:prstGeom>
          <a:solidFill>
            <a:srgbClr val="FFFBEB"/>
          </a:solidFill>
          <a:ln/>
        </p:spPr>
      </p:sp>
    </p:spTree>
    <p:extLst>
      <p:ext uri="{BB962C8B-B14F-4D97-AF65-F5344CB8AC3E}">
        <p14:creationId xmlns:p14="http://schemas.microsoft.com/office/powerpoint/2010/main" val="3166102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訂版面配置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日期版面配置區 3">
            <a:extLst>
              <a:ext uri="{FF2B5EF4-FFF2-40B4-BE49-F238E27FC236}">
                <a16:creationId xmlns:a16="http://schemas.microsoft.com/office/drawing/2014/main" id="{4547B7B8-A2AD-9946-D893-5F458A71A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26" name="頁尾版面配置區 4">
            <a:extLst>
              <a:ext uri="{FF2B5EF4-FFF2-40B4-BE49-F238E27FC236}">
                <a16:creationId xmlns:a16="http://schemas.microsoft.com/office/drawing/2014/main" id="{C2F032DE-2486-2459-A4DE-DAAD22252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27" name="投影片編號版面配置區 5">
            <a:extLst>
              <a:ext uri="{FF2B5EF4-FFF2-40B4-BE49-F238E27FC236}">
                <a16:creationId xmlns:a16="http://schemas.microsoft.com/office/drawing/2014/main" id="{BCE9CD70-B781-8BE7-E26E-6CB3E20D3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64CDEFAD-3581-7CBB-1DF5-55E0647C6B26}"/>
              </a:ext>
            </a:extLst>
          </p:cNvPr>
          <p:cNvSpPr/>
          <p:nvPr userDrawn="1"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C7293">
              <a:alpha val="18000"/>
            </a:srgbClr>
          </a:solidFill>
          <a:ln/>
        </p:spPr>
      </p:sp>
      <p:sp>
        <p:nvSpPr>
          <p:cNvPr id="29" name="Shape 1">
            <a:extLst>
              <a:ext uri="{FF2B5EF4-FFF2-40B4-BE49-F238E27FC236}">
                <a16:creationId xmlns:a16="http://schemas.microsoft.com/office/drawing/2014/main" id="{5CBCFAB6-3ED7-992A-0D4E-896AE9C5169F}"/>
              </a:ext>
            </a:extLst>
          </p:cNvPr>
          <p:cNvSpPr/>
          <p:nvPr userDrawn="1"/>
        </p:nvSpPr>
        <p:spPr>
          <a:xfrm>
            <a:off x="-1645920" y="4572000"/>
            <a:ext cx="3657600" cy="3657600"/>
          </a:xfrm>
          <a:prstGeom prst="ellipse">
            <a:avLst/>
          </a:prstGeom>
          <a:solidFill>
            <a:srgbClr val="065A82">
              <a:alpha val="22000"/>
            </a:srgbClr>
          </a:solidFill>
          <a:ln/>
        </p:spPr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5A7E507-2360-5D4D-0396-93FF434153C0}"/>
              </a:ext>
            </a:extLst>
          </p:cNvPr>
          <p:cNvSpPr/>
          <p:nvPr userDrawn="1"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9CC61B25-A5A4-9984-66FF-DF18927166E0}"/>
              </a:ext>
            </a:extLst>
          </p:cNvPr>
          <p:cNvSpPr/>
          <p:nvPr userDrawn="1"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B6E09626-D60F-A471-08A2-F8B210613E62}"/>
              </a:ext>
            </a:extLst>
          </p:cNvPr>
          <p:cNvSpPr/>
          <p:nvPr userDrawn="1"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D220572B-EB2A-930A-F8FE-8AFB243B5FE5}"/>
              </a:ext>
            </a:extLst>
          </p:cNvPr>
          <p:cNvSpPr/>
          <p:nvPr userDrawn="1"/>
        </p:nvSpPr>
        <p:spPr>
          <a:xfrm>
            <a:off x="838200" y="5967729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Shape 9">
            <a:extLst>
              <a:ext uri="{FF2B5EF4-FFF2-40B4-BE49-F238E27FC236}">
                <a16:creationId xmlns:a16="http://schemas.microsoft.com/office/drawing/2014/main" id="{0DEF6004-0482-55D6-EC95-EED1A8E7D1F1}"/>
              </a:ext>
            </a:extLst>
          </p:cNvPr>
          <p:cNvSpPr/>
          <p:nvPr userDrawn="1"/>
        </p:nvSpPr>
        <p:spPr>
          <a:xfrm>
            <a:off x="456473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A0F58C09-86AE-D8EF-09F4-5063735D717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646386" y="5556249"/>
            <a:ext cx="249814" cy="249814"/>
          </a:xfrm>
          <a:prstGeom prst="rect">
            <a:avLst/>
          </a:prstGeom>
          <a:noFill/>
        </p:spPr>
      </p:pic>
      <p:sp>
        <p:nvSpPr>
          <p:cNvPr id="38" name="Shape 10">
            <a:extLst>
              <a:ext uri="{FF2B5EF4-FFF2-40B4-BE49-F238E27FC236}">
                <a16:creationId xmlns:a16="http://schemas.microsoft.com/office/drawing/2014/main" id="{BD5292F5-C03D-6C8B-93E4-353F32C5C1F3}"/>
              </a:ext>
            </a:extLst>
          </p:cNvPr>
          <p:cNvSpPr/>
          <p:nvPr userDrawn="1"/>
        </p:nvSpPr>
        <p:spPr>
          <a:xfrm>
            <a:off x="521497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zh-TW" altLang="en-US" dirty="0"/>
          </a:p>
        </p:txBody>
      </p:sp>
      <p:pic>
        <p:nvPicPr>
          <p:cNvPr id="39" name="Image 1" descr="preencoded.png">
            <a:extLst>
              <a:ext uri="{FF2B5EF4-FFF2-40B4-BE49-F238E27FC236}">
                <a16:creationId xmlns:a16="http://schemas.microsoft.com/office/drawing/2014/main" id="{F8762BD0-522D-E77D-A949-27CEA351626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96626" y="5556249"/>
            <a:ext cx="249814" cy="249814"/>
          </a:xfrm>
          <a:prstGeom prst="rect">
            <a:avLst/>
          </a:prstGeom>
        </p:spPr>
      </p:pic>
      <p:sp>
        <p:nvSpPr>
          <p:cNvPr id="40" name="Shape 11">
            <a:extLst>
              <a:ext uri="{FF2B5EF4-FFF2-40B4-BE49-F238E27FC236}">
                <a16:creationId xmlns:a16="http://schemas.microsoft.com/office/drawing/2014/main" id="{A61E17C2-00BB-8955-6496-C2E20AE29BF7}"/>
              </a:ext>
            </a:extLst>
          </p:cNvPr>
          <p:cNvSpPr/>
          <p:nvPr userDrawn="1"/>
        </p:nvSpPr>
        <p:spPr>
          <a:xfrm>
            <a:off x="586521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1" name="Image 2" descr="preencoded.png">
            <a:extLst>
              <a:ext uri="{FF2B5EF4-FFF2-40B4-BE49-F238E27FC236}">
                <a16:creationId xmlns:a16="http://schemas.microsoft.com/office/drawing/2014/main" id="{74F67410-1BDC-9D9A-621C-571F46159C4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46866" y="5556249"/>
            <a:ext cx="249814" cy="249814"/>
          </a:xfrm>
          <a:prstGeom prst="rect">
            <a:avLst/>
          </a:prstGeom>
        </p:spPr>
      </p:pic>
      <p:sp>
        <p:nvSpPr>
          <p:cNvPr id="42" name="Shape 12">
            <a:extLst>
              <a:ext uri="{FF2B5EF4-FFF2-40B4-BE49-F238E27FC236}">
                <a16:creationId xmlns:a16="http://schemas.microsoft.com/office/drawing/2014/main" id="{C6E0FB02-E1D9-CB8B-2744-762E3E613EE2}"/>
              </a:ext>
            </a:extLst>
          </p:cNvPr>
          <p:cNvSpPr/>
          <p:nvPr userDrawn="1"/>
        </p:nvSpPr>
        <p:spPr>
          <a:xfrm>
            <a:off x="651545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3" name="Image 3" descr="preencoded.png">
            <a:extLst>
              <a:ext uri="{FF2B5EF4-FFF2-40B4-BE49-F238E27FC236}">
                <a16:creationId xmlns:a16="http://schemas.microsoft.com/office/drawing/2014/main" id="{DA947427-63E7-CA8D-9294-622632B8E5A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597106" y="5556249"/>
            <a:ext cx="249814" cy="249814"/>
          </a:xfrm>
          <a:prstGeom prst="rect">
            <a:avLst/>
          </a:prstGeom>
        </p:spPr>
      </p:pic>
      <p:sp>
        <p:nvSpPr>
          <p:cNvPr id="44" name="Shape 13">
            <a:extLst>
              <a:ext uri="{FF2B5EF4-FFF2-40B4-BE49-F238E27FC236}">
                <a16:creationId xmlns:a16="http://schemas.microsoft.com/office/drawing/2014/main" id="{71BA7FB5-DF12-7664-ABE6-FD9A2415BC15}"/>
              </a:ext>
            </a:extLst>
          </p:cNvPr>
          <p:cNvSpPr/>
          <p:nvPr userDrawn="1"/>
        </p:nvSpPr>
        <p:spPr>
          <a:xfrm>
            <a:off x="7229190" y="5472577"/>
            <a:ext cx="423539" cy="423539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5" name="Image 4" descr="preencoded.png">
            <a:extLst>
              <a:ext uri="{FF2B5EF4-FFF2-40B4-BE49-F238E27FC236}">
                <a16:creationId xmlns:a16="http://schemas.microsoft.com/office/drawing/2014/main" id="{6C30F520-8983-F009-D4DA-AC28A6ED403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310846" y="5556249"/>
            <a:ext cx="249814" cy="24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77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679D5A-A137-E0E5-C232-5F2582BC96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46CA57-B6C5-C526-5999-C39331C4C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28A933-06B3-635D-3DBC-A86567567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FB2381-8184-45B5-ADDF-E81116BDA9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5373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0" r:id="rId3"/>
    <p:sldLayoutId id="2147483652" r:id="rId4"/>
    <p:sldLayoutId id="2147483651" r:id="rId5"/>
    <p:sldLayoutId id="2147483654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3">
            <a:extLst>
              <a:ext uri="{FF2B5EF4-FFF2-40B4-BE49-F238E27FC236}">
                <a16:creationId xmlns:a16="http://schemas.microsoft.com/office/drawing/2014/main" id="{4E375BC0-04A2-AB55-AA9A-94E84E61C23A}"/>
              </a:ext>
            </a:extLst>
          </p:cNvPr>
          <p:cNvSpPr/>
          <p:nvPr/>
        </p:nvSpPr>
        <p:spPr>
          <a:xfrm>
            <a:off x="914400" y="2377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 err="1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威志雲端</a:t>
            </a:r>
            <a:r>
              <a:rPr lang="en-US" sz="14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　KINTONE</a:t>
            </a:r>
            <a:r>
              <a:rPr lang="zh-TW" altLang="en-US" sz="14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</a:t>
            </a:r>
            <a:r>
              <a:rPr lang="en-US" sz="14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ERP SYSTEM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ACA3D194-2790-7F5D-6661-DE88052F4A99}"/>
              </a:ext>
            </a:extLst>
          </p:cNvPr>
          <p:cNvSpPr/>
          <p:nvPr/>
        </p:nvSpPr>
        <p:spPr>
          <a:xfrm>
            <a:off x="914400" y="274320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簡易ERP系統 使用說明書</a:t>
            </a: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DFFF531-BA73-2F07-787D-49E108FB8CB1}"/>
              </a:ext>
            </a:extLst>
          </p:cNvPr>
          <p:cNvSpPr/>
          <p:nvPr/>
        </p:nvSpPr>
        <p:spPr>
          <a:xfrm>
            <a:off x="914400" y="37947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客戶操作指南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9CBE13B9-BE9C-299F-3B78-89C70561AF4B}"/>
              </a:ext>
            </a:extLst>
          </p:cNvPr>
          <p:cNvSpPr/>
          <p:nvPr/>
        </p:nvSpPr>
        <p:spPr>
          <a:xfrm>
            <a:off x="91440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TW" sz="1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2026.07</a:t>
            </a:r>
            <a:r>
              <a:rPr lang="zh-TW" altLang="en-US" sz="1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　第一版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投影片編號版面配置區 15">
            <a:extLst>
              <a:ext uri="{FF2B5EF4-FFF2-40B4-BE49-F238E27FC236}">
                <a16:creationId xmlns:a16="http://schemas.microsoft.com/office/drawing/2014/main" id="{F3225BBD-4AEE-C53A-7A77-33F57E6A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9375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8A8BF50-D956-E47F-D805-EAE848D1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635F322F-5889-5EE3-4E7F-34C1BC2538C2}"/>
              </a:ext>
            </a:extLst>
          </p:cNvPr>
          <p:cNvSpPr/>
          <p:nvPr/>
        </p:nvSpPr>
        <p:spPr>
          <a:xfrm>
            <a:off x="640080" y="182880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F40230F8-4375-32AB-99B3-F8CB0CD48BAE}"/>
              </a:ext>
            </a:extLst>
          </p:cNvPr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41BB5971-4855-7823-CF9F-B3D1020FC947}"/>
              </a:ext>
            </a:extLst>
          </p:cNvPr>
          <p:cNvSpPr/>
          <p:nvPr/>
        </p:nvSpPr>
        <p:spPr>
          <a:xfrm>
            <a:off x="1508760" y="19933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A9ADC037-4A6A-3FE6-0AF9-09BA03D14A32}"/>
              </a:ext>
            </a:extLst>
          </p:cNvPr>
          <p:cNvSpPr/>
          <p:nvPr/>
        </p:nvSpPr>
        <p:spPr>
          <a:xfrm>
            <a:off x="1508760" y="221284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主檔資料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A2EB634-0C49-9B98-6216-58FDC09910F8}"/>
              </a:ext>
            </a:extLst>
          </p:cNvPr>
          <p:cNvSpPr/>
          <p:nvPr/>
        </p:nvSpPr>
        <p:spPr>
          <a:xfrm>
            <a:off x="960120" y="270249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0-1 </a:t>
            </a:r>
            <a:r>
              <a:rPr lang="en-US" sz="1150" dirty="0" err="1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公司倉庫資料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0-2 客戶資料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0-3 廠商資料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0-4 商品資料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97A3F842-E5C9-008F-1E7F-73C8E355FB06}"/>
              </a:ext>
            </a:extLst>
          </p:cNvPr>
          <p:cNvSpPr/>
          <p:nvPr/>
        </p:nvSpPr>
        <p:spPr>
          <a:xfrm>
            <a:off x="4383938" y="182880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138DE4A8-50EB-3967-B90F-51C099EEBA17}"/>
              </a:ext>
            </a:extLst>
          </p:cNvPr>
          <p:cNvSpPr/>
          <p:nvPr/>
        </p:nvSpPr>
        <p:spPr>
          <a:xfrm>
            <a:off x="4612538" y="20116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E8ADA4C9-002F-D384-36AA-714EA497C732}"/>
              </a:ext>
            </a:extLst>
          </p:cNvPr>
          <p:cNvSpPr/>
          <p:nvPr/>
        </p:nvSpPr>
        <p:spPr>
          <a:xfrm>
            <a:off x="5252618" y="19933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55BDBD2E-AFE0-AD73-848B-25B3959F87A5}"/>
              </a:ext>
            </a:extLst>
          </p:cNvPr>
          <p:cNvSpPr/>
          <p:nvPr/>
        </p:nvSpPr>
        <p:spPr>
          <a:xfrm>
            <a:off x="5252618" y="221284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庫存管理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EB464430-3D62-52D7-622B-24BF6EC67A8D}"/>
              </a:ext>
            </a:extLst>
          </p:cNvPr>
          <p:cNvSpPr/>
          <p:nvPr/>
        </p:nvSpPr>
        <p:spPr>
          <a:xfrm>
            <a:off x="4703978" y="270249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1-1 庫存總表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9B3B26AF-B3E9-DE27-F55A-F24072B59140}"/>
              </a:ext>
            </a:extLst>
          </p:cNvPr>
          <p:cNvSpPr/>
          <p:nvPr/>
        </p:nvSpPr>
        <p:spPr>
          <a:xfrm>
            <a:off x="8127797" y="182880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F9985536-E107-151D-EA3C-C24E205D6D19}"/>
              </a:ext>
            </a:extLst>
          </p:cNvPr>
          <p:cNvSpPr/>
          <p:nvPr/>
        </p:nvSpPr>
        <p:spPr>
          <a:xfrm>
            <a:off x="8356397" y="201168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3A3B6825-F0A1-B260-8751-74477C2C6D01}"/>
              </a:ext>
            </a:extLst>
          </p:cNvPr>
          <p:cNvSpPr/>
          <p:nvPr/>
        </p:nvSpPr>
        <p:spPr>
          <a:xfrm>
            <a:off x="8996477" y="19933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F0072D79-817A-1FFD-3B70-14C770D643E9}"/>
              </a:ext>
            </a:extLst>
          </p:cNvPr>
          <p:cNvSpPr/>
          <p:nvPr/>
        </p:nvSpPr>
        <p:spPr>
          <a:xfrm>
            <a:off x="8996477" y="221284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採購作業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66361380-DE07-C85A-A3AB-E71A46DA6007}"/>
              </a:ext>
            </a:extLst>
          </p:cNvPr>
          <p:cNvSpPr/>
          <p:nvPr/>
        </p:nvSpPr>
        <p:spPr>
          <a:xfrm>
            <a:off x="8447837" y="270249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2-1 採購進貨單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516C6815-2544-BEE8-56D2-0493EF29D740}"/>
              </a:ext>
            </a:extLst>
          </p:cNvPr>
          <p:cNvSpPr/>
          <p:nvPr/>
        </p:nvSpPr>
        <p:spPr>
          <a:xfrm>
            <a:off x="640080" y="402336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21" name="Shape 20">
            <a:extLst>
              <a:ext uri="{FF2B5EF4-FFF2-40B4-BE49-F238E27FC236}">
                <a16:creationId xmlns:a16="http://schemas.microsoft.com/office/drawing/2014/main" id="{D21BED4F-BC08-70BE-13CA-CCDC33334301}"/>
              </a:ext>
            </a:extLst>
          </p:cNvPr>
          <p:cNvSpPr/>
          <p:nvPr/>
        </p:nvSpPr>
        <p:spPr>
          <a:xfrm>
            <a:off x="868680" y="4206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D15BA11D-E0D3-EBC9-666D-37F4C3CD2E98}"/>
              </a:ext>
            </a:extLst>
          </p:cNvPr>
          <p:cNvSpPr/>
          <p:nvPr/>
        </p:nvSpPr>
        <p:spPr>
          <a:xfrm>
            <a:off x="1508760" y="4187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7019D174-BD90-1914-2AD8-557DA9C5F0E9}"/>
              </a:ext>
            </a:extLst>
          </p:cNvPr>
          <p:cNvSpPr/>
          <p:nvPr/>
        </p:nvSpPr>
        <p:spPr>
          <a:xfrm>
            <a:off x="1508760" y="440740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銷貨作業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 23">
            <a:extLst>
              <a:ext uri="{FF2B5EF4-FFF2-40B4-BE49-F238E27FC236}">
                <a16:creationId xmlns:a16="http://schemas.microsoft.com/office/drawing/2014/main" id="{73E144A5-1F2E-F20D-AEB5-C068FB0029F4}"/>
              </a:ext>
            </a:extLst>
          </p:cNvPr>
          <p:cNvSpPr/>
          <p:nvPr/>
        </p:nvSpPr>
        <p:spPr>
          <a:xfrm>
            <a:off x="960120" y="489705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3-1 銷貨出貨單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Shape 24">
            <a:extLst>
              <a:ext uri="{FF2B5EF4-FFF2-40B4-BE49-F238E27FC236}">
                <a16:creationId xmlns:a16="http://schemas.microsoft.com/office/drawing/2014/main" id="{6E9E8B06-B0D8-B1D9-97CF-0A6EC3EE07B5}"/>
              </a:ext>
            </a:extLst>
          </p:cNvPr>
          <p:cNvSpPr/>
          <p:nvPr/>
        </p:nvSpPr>
        <p:spPr>
          <a:xfrm>
            <a:off x="4383938" y="4023360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26" name="Shape 25">
            <a:extLst>
              <a:ext uri="{FF2B5EF4-FFF2-40B4-BE49-F238E27FC236}">
                <a16:creationId xmlns:a16="http://schemas.microsoft.com/office/drawing/2014/main" id="{F5F00DF0-5B27-5D23-3ABB-EA0422FCB8C6}"/>
              </a:ext>
            </a:extLst>
          </p:cNvPr>
          <p:cNvSpPr/>
          <p:nvPr/>
        </p:nvSpPr>
        <p:spPr>
          <a:xfrm>
            <a:off x="4612538" y="4206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855BFAD8-9F4B-E799-FE1D-505F4CDB2511}"/>
              </a:ext>
            </a:extLst>
          </p:cNvPr>
          <p:cNvSpPr/>
          <p:nvPr/>
        </p:nvSpPr>
        <p:spPr>
          <a:xfrm>
            <a:off x="5252618" y="4187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27">
            <a:extLst>
              <a:ext uri="{FF2B5EF4-FFF2-40B4-BE49-F238E27FC236}">
                <a16:creationId xmlns:a16="http://schemas.microsoft.com/office/drawing/2014/main" id="{56190691-D9BF-DE92-D27B-E3862F72468B}"/>
              </a:ext>
            </a:extLst>
          </p:cNvPr>
          <p:cNvSpPr/>
          <p:nvPr/>
        </p:nvSpPr>
        <p:spPr>
          <a:xfrm>
            <a:off x="5252618" y="440740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金流管理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394C494F-90EE-A403-073F-C9A007E9B084}"/>
              </a:ext>
            </a:extLst>
          </p:cNvPr>
          <p:cNvSpPr/>
          <p:nvPr/>
        </p:nvSpPr>
        <p:spPr>
          <a:xfrm>
            <a:off x="4703978" y="489705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4-1 應付款項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4-2 應收款項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" name="Shape 29">
            <a:extLst>
              <a:ext uri="{FF2B5EF4-FFF2-40B4-BE49-F238E27FC236}">
                <a16:creationId xmlns:a16="http://schemas.microsoft.com/office/drawing/2014/main" id="{A3C6E9DC-248C-F4AA-8AB1-FB0DAE08B4E5}"/>
              </a:ext>
            </a:extLst>
          </p:cNvPr>
          <p:cNvSpPr/>
          <p:nvPr/>
        </p:nvSpPr>
        <p:spPr>
          <a:xfrm>
            <a:off x="8127797" y="3964368"/>
            <a:ext cx="3423818" cy="1874520"/>
          </a:xfrm>
          <a:prstGeom prst="roundRect">
            <a:avLst>
              <a:gd name="adj" fmla="val 4878"/>
            </a:avLst>
          </a:prstGeom>
          <a:solidFill>
            <a:srgbClr val="F4F8FA"/>
          </a:solidFill>
          <a:ln/>
          <a:effectLst>
            <a:outerShdw blurRad="76200" dist="25400" dir="5400000" algn="bl" rotWithShape="0">
              <a:srgbClr val="1E293B">
                <a:alpha val="10000"/>
              </a:srgbClr>
            </a:outerShdw>
          </a:effectLst>
        </p:spPr>
      </p:sp>
      <p:sp>
        <p:nvSpPr>
          <p:cNvPr id="31" name="Shape 30">
            <a:extLst>
              <a:ext uri="{FF2B5EF4-FFF2-40B4-BE49-F238E27FC236}">
                <a16:creationId xmlns:a16="http://schemas.microsoft.com/office/drawing/2014/main" id="{C9C806FC-C7D7-E574-3C3B-6D1A49B92CE6}"/>
              </a:ext>
            </a:extLst>
          </p:cNvPr>
          <p:cNvSpPr/>
          <p:nvPr/>
        </p:nvSpPr>
        <p:spPr>
          <a:xfrm>
            <a:off x="8356397" y="420624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2" name="Text 31">
            <a:extLst>
              <a:ext uri="{FF2B5EF4-FFF2-40B4-BE49-F238E27FC236}">
                <a16:creationId xmlns:a16="http://schemas.microsoft.com/office/drawing/2014/main" id="{5555E928-6AED-A936-2060-567333444F82}"/>
              </a:ext>
            </a:extLst>
          </p:cNvPr>
          <p:cNvSpPr/>
          <p:nvPr/>
        </p:nvSpPr>
        <p:spPr>
          <a:xfrm>
            <a:off x="8996477" y="41879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5-X</a:t>
            </a:r>
            <a:endParaRPr 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Text 32">
            <a:extLst>
              <a:ext uri="{FF2B5EF4-FFF2-40B4-BE49-F238E27FC236}">
                <a16:creationId xmlns:a16="http://schemas.microsoft.com/office/drawing/2014/main" id="{65328563-44AA-CD6D-4C79-EA66A523A355}"/>
              </a:ext>
            </a:extLst>
          </p:cNvPr>
          <p:cNvSpPr/>
          <p:nvPr/>
        </p:nvSpPr>
        <p:spPr>
          <a:xfrm>
            <a:off x="8996477" y="4407408"/>
            <a:ext cx="241797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調撥作業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 33">
            <a:extLst>
              <a:ext uri="{FF2B5EF4-FFF2-40B4-BE49-F238E27FC236}">
                <a16:creationId xmlns:a16="http://schemas.microsoft.com/office/drawing/2014/main" id="{0732BAE0-187D-556B-8E0E-C4B67354F88B}"/>
              </a:ext>
            </a:extLst>
          </p:cNvPr>
          <p:cNvSpPr/>
          <p:nvPr/>
        </p:nvSpPr>
        <p:spPr>
          <a:xfrm>
            <a:off x="8447837" y="4897056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5-1 調撥單</a:t>
            </a:r>
            <a:endParaRPr lang="en-US" sz="11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 1">
            <a:extLst>
              <a:ext uri="{FF2B5EF4-FFF2-40B4-BE49-F238E27FC236}">
                <a16:creationId xmlns:a16="http://schemas.microsoft.com/office/drawing/2014/main" id="{7A9717D5-715C-E157-36BA-200D034AEA52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C7293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SYSTEM OVERVIEW</a:t>
            </a:r>
          </a:p>
        </p:txBody>
      </p:sp>
      <p:sp>
        <p:nvSpPr>
          <p:cNvPr id="36" name="Text 2">
            <a:extLst>
              <a:ext uri="{FF2B5EF4-FFF2-40B4-BE49-F238E27FC236}">
                <a16:creationId xmlns:a16="http://schemas.microsoft.com/office/drawing/2014/main" id="{D03A6ACC-6BF5-FBA2-850B-CDD27730584C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應用程式架構總覽</a:t>
            </a:r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B9D53509-6A9C-9831-0390-2B3340CC7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865" y="2154445"/>
            <a:ext cx="293967" cy="293967"/>
          </a:xfrm>
          <a:prstGeom prst="rect">
            <a:avLst/>
          </a:prstGeom>
        </p:spPr>
      </p:pic>
      <p:pic>
        <p:nvPicPr>
          <p:cNvPr id="38" name="Image 1" descr="preencoded.png">
            <a:extLst>
              <a:ext uri="{FF2B5EF4-FFF2-40B4-BE49-F238E27FC236}">
                <a16:creationId xmlns:a16="http://schemas.microsoft.com/office/drawing/2014/main" id="{3C22ECA6-1B64-0F49-0B05-60EC69DB39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6169" y="2091911"/>
            <a:ext cx="365761" cy="365761"/>
          </a:xfrm>
          <a:prstGeom prst="rect">
            <a:avLst/>
          </a:prstGeom>
        </p:spPr>
      </p:pic>
      <p:pic>
        <p:nvPicPr>
          <p:cNvPr id="39" name="Image 2" descr="preencoded.png">
            <a:extLst>
              <a:ext uri="{FF2B5EF4-FFF2-40B4-BE49-F238E27FC236}">
                <a16:creationId xmlns:a16="http://schemas.microsoft.com/office/drawing/2014/main" id="{A9254F6F-17F3-9C74-094A-B0182009EF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8575" y="2097810"/>
            <a:ext cx="365760" cy="365760"/>
          </a:xfrm>
          <a:prstGeom prst="rect">
            <a:avLst/>
          </a:prstGeom>
        </p:spPr>
      </p:pic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3B62B609-3397-4952-EEA8-FB52F0C105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978" y="4262473"/>
            <a:ext cx="395021" cy="395021"/>
          </a:xfrm>
          <a:prstGeom prst="rect">
            <a:avLst/>
          </a:prstGeom>
        </p:spPr>
      </p:pic>
      <p:pic>
        <p:nvPicPr>
          <p:cNvPr id="41" name="Image 4" descr="preencoded.png">
            <a:extLst>
              <a:ext uri="{FF2B5EF4-FFF2-40B4-BE49-F238E27FC236}">
                <a16:creationId xmlns:a16="http://schemas.microsoft.com/office/drawing/2014/main" id="{49664F26-F18C-328B-AB37-A4308755E7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9959" y="4325406"/>
            <a:ext cx="312254" cy="312254"/>
          </a:xfrm>
          <a:prstGeom prst="rect">
            <a:avLst/>
          </a:prstGeom>
        </p:spPr>
      </p:pic>
      <p:pic>
        <p:nvPicPr>
          <p:cNvPr id="42" name="Image 2" descr="preencoded.png">
            <a:extLst>
              <a:ext uri="{FF2B5EF4-FFF2-40B4-BE49-F238E27FC236}">
                <a16:creationId xmlns:a16="http://schemas.microsoft.com/office/drawing/2014/main" id="{36ED3D49-37F2-4301-28B5-C4139C797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94" y="4299630"/>
            <a:ext cx="36576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878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052F339F-F225-45A0-5A70-83AD13302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3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F3100D73-8A43-7FAB-E9D6-968F9C7B287F}"/>
              </a:ext>
            </a:extLst>
          </p:cNvPr>
          <p:cNvSpPr/>
          <p:nvPr/>
        </p:nvSpPr>
        <p:spPr>
          <a:xfrm>
            <a:off x="3091262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8FC1D9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PART 1</a:t>
            </a:r>
            <a:endParaRPr lang="en-US" sz="15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9AEDE8D0-8C80-ED70-BDA6-3977FB1321BB}"/>
              </a:ext>
            </a:extLst>
          </p:cNvPr>
          <p:cNvSpPr/>
          <p:nvPr/>
        </p:nvSpPr>
        <p:spPr>
          <a:xfrm>
            <a:off x="3091262" y="2926080"/>
            <a:ext cx="8503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使用者篇</a:t>
            </a:r>
            <a:endParaRPr lang="en-US" sz="4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D188378D-F186-3B1C-94F9-409900306F36}"/>
              </a:ext>
            </a:extLst>
          </p:cNvPr>
          <p:cNvSpPr/>
          <p:nvPr/>
        </p:nvSpPr>
        <p:spPr>
          <a:xfrm>
            <a:off x="3091262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1700" dirty="0">
                <a:solidFill>
                  <a:srgbClr val="C7DCE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日常操作流程與使用說明</a:t>
            </a: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B43D961E-1D9A-BFBC-6C5E-0C090229C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308" y="27800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8648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732D200-C165-B41A-161B-E235AA352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E84375-31A6-295B-89A5-96EE267A43A8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PRODUCT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E0CD3E7-D601-9A9D-A53B-1CE068CF6475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新增商品</a:t>
            </a:r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5D5CB9EF-4DE4-5185-ED87-D6131C8D787E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654FC22-939C-0BB7-3090-16E096FC0FE0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271C100C-BDA2-F4B1-327A-1AAA4AAF1588}"/>
              </a:ext>
            </a:extLst>
          </p:cNvPr>
          <p:cNvSpPr/>
          <p:nvPr/>
        </p:nvSpPr>
        <p:spPr>
          <a:xfrm>
            <a:off x="1152144" y="1952389"/>
            <a:ext cx="6071616" cy="63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至「0-4 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商品資料」新增商品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896A4E68-4FF8-3369-580E-867EBD474863}"/>
              </a:ext>
            </a:extLst>
          </p:cNvPr>
          <p:cNvSpPr/>
          <p:nvPr/>
        </p:nvSpPr>
        <p:spPr>
          <a:xfrm>
            <a:off x="548640" y="2546551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51637137-EE24-3E4A-C995-E2DB7C7E755D}"/>
              </a:ext>
            </a:extLst>
          </p:cNvPr>
          <p:cNvSpPr/>
          <p:nvPr/>
        </p:nvSpPr>
        <p:spPr>
          <a:xfrm>
            <a:off x="548640" y="254655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EDDCFD01-9DDF-ACAB-A946-418064DBFB3F}"/>
              </a:ext>
            </a:extLst>
          </p:cNvPr>
          <p:cNvSpPr/>
          <p:nvPr/>
        </p:nvSpPr>
        <p:spPr>
          <a:xfrm>
            <a:off x="1152144" y="2624420"/>
            <a:ext cx="6071616" cy="526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供應商選單子表格務必填入</a:t>
            </a:r>
            <a:r>
              <a:rPr lang="en-US" altLang="zh-TW" sz="1400" b="1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條碼編號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、廠商名稱與廠商定價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A732E5C3-F84F-D7FE-8594-EAF44E52FD4B}"/>
              </a:ext>
            </a:extLst>
          </p:cNvPr>
          <p:cNvSpPr/>
          <p:nvPr/>
        </p:nvSpPr>
        <p:spPr>
          <a:xfrm>
            <a:off x="548640" y="323409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1E2598B5-1D28-C739-6625-160D7E543EC2}"/>
              </a:ext>
            </a:extLst>
          </p:cNvPr>
          <p:cNvSpPr/>
          <p:nvPr/>
        </p:nvSpPr>
        <p:spPr>
          <a:xfrm>
            <a:off x="548640" y="32340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2B802E21-B791-FD94-797D-42E73F9905AC}"/>
              </a:ext>
            </a:extLst>
          </p:cNvPr>
          <p:cNvSpPr/>
          <p:nvPr/>
        </p:nvSpPr>
        <p:spPr>
          <a:xfrm>
            <a:off x="1152144" y="3311959"/>
            <a:ext cx="6071616" cy="526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5000"/>
              </a:lnSpc>
            </a:pP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至「1-1 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庫存總表」新增該商品的庫存記錄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選擇倉庫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並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設定安全庫存量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D6D09E40-22D3-E6BE-0517-994734DE1555}"/>
              </a:ext>
            </a:extLst>
          </p:cNvPr>
          <p:cNvSpPr/>
          <p:nvPr/>
        </p:nvSpPr>
        <p:spPr>
          <a:xfrm>
            <a:off x="556014" y="3924999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96F9E939-49CA-2A1C-D46E-F66DC5FD0CB2}"/>
              </a:ext>
            </a:extLst>
          </p:cNvPr>
          <p:cNvSpPr/>
          <p:nvPr/>
        </p:nvSpPr>
        <p:spPr>
          <a:xfrm>
            <a:off x="548640" y="39255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1669716D-4013-A0C3-9775-CF211B125E4D}"/>
              </a:ext>
            </a:extLst>
          </p:cNvPr>
          <p:cNvSpPr/>
          <p:nvPr/>
        </p:nvSpPr>
        <p:spPr>
          <a:xfrm>
            <a:off x="1152144" y="3988115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若同一商品在多個倉庫都有存放，需分別建立各倉庫的庫存紀錄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Shape 12">
            <a:extLst>
              <a:ext uri="{FF2B5EF4-FFF2-40B4-BE49-F238E27FC236}">
                <a16:creationId xmlns:a16="http://schemas.microsoft.com/office/drawing/2014/main" id="{C426E811-D359-C63E-2566-87D00249FDF0}"/>
              </a:ext>
            </a:extLst>
          </p:cNvPr>
          <p:cNvSpPr/>
          <p:nvPr/>
        </p:nvSpPr>
        <p:spPr>
          <a:xfrm>
            <a:off x="556014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EE110DD3-30F0-6264-C67C-B8E3E0FDAE79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定價小提醒</a:t>
            </a:r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2369C4DF-2981-7788-2E99-93314FBFE6B1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填寫 </a:t>
            </a:r>
            <a:r>
              <a:rPr lang="en-US" altLang="ja-JP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2-1 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採購進貨單時，商品價格資訊會依「 </a:t>
            </a:r>
            <a:r>
              <a:rPr lang="en-US" altLang="ja-JP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0-2 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客戶資料」中的客戶類型，動態代入零售價</a:t>
            </a:r>
            <a:r>
              <a:rPr lang="zh-TW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、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批發價</a:t>
            </a:r>
            <a:r>
              <a:rPr lang="zh-TW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、</a:t>
            </a:r>
            <a:r>
              <a:rPr lang="ja-JP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網路價</a:t>
            </a:r>
          </a:p>
        </p:txBody>
      </p:sp>
      <p:pic>
        <p:nvPicPr>
          <p:cNvPr id="38" name="Image 0" descr="preencoded.png">
            <a:extLst>
              <a:ext uri="{FF2B5EF4-FFF2-40B4-BE49-F238E27FC236}">
                <a16:creationId xmlns:a16="http://schemas.microsoft.com/office/drawing/2014/main" id="{00547D6C-BECE-6ED9-E21E-7EF125833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190" y="725635"/>
            <a:ext cx="293967" cy="293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221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329F7A7D-7FBF-9F88-979A-563F5CB01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0A51451-DA66-5CE8-C120-C852A3C08E04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STOCK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2D8F0D8-5E54-2271-494C-67941ACEA6AE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庫存總表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48CC1E16-35F7-CC5F-FA86-D53490187573}"/>
              </a:ext>
            </a:extLst>
          </p:cNvPr>
          <p:cNvSpPr/>
          <p:nvPr/>
        </p:nvSpPr>
        <p:spPr>
          <a:xfrm>
            <a:off x="548640" y="1828800"/>
            <a:ext cx="354573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58D41D89-253C-A451-058C-213FC6F5BE77}"/>
              </a:ext>
            </a:extLst>
          </p:cNvPr>
          <p:cNvSpPr/>
          <p:nvPr/>
        </p:nvSpPr>
        <p:spPr>
          <a:xfrm>
            <a:off x="749808" y="2011680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5651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累計入庫量／累計出庫量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72231878-6E83-2541-D234-94A27DC39F1C}"/>
              </a:ext>
            </a:extLst>
          </p:cNvPr>
          <p:cNvSpPr/>
          <p:nvPr/>
        </p:nvSpPr>
        <p:spPr>
          <a:xfrm>
            <a:off x="749808" y="2560320"/>
            <a:ext cx="3143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倉庫庫存總帳，含</a:t>
            </a:r>
            <a:r>
              <a:rPr lang="en-US" sz="14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採購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sz="14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銷貨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sz="1400" b="1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所有來源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2AA8978B-6C5A-0877-7129-7A5F7E436AB5}"/>
              </a:ext>
            </a:extLst>
          </p:cNvPr>
          <p:cNvSpPr/>
          <p:nvPr/>
        </p:nvSpPr>
        <p:spPr>
          <a:xfrm>
            <a:off x="4322978" y="1828800"/>
            <a:ext cx="354573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05897B5-5CD2-8BFD-7853-F10E14A62638}"/>
              </a:ext>
            </a:extLst>
          </p:cNvPr>
          <p:cNvSpPr/>
          <p:nvPr/>
        </p:nvSpPr>
        <p:spPr>
          <a:xfrm>
            <a:off x="4524146" y="2011680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5651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預約保留量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02D33CFF-2A47-4820-8750-17B7C3D55D41}"/>
              </a:ext>
            </a:extLst>
          </p:cNvPr>
          <p:cNvSpPr/>
          <p:nvPr/>
        </p:nvSpPr>
        <p:spPr>
          <a:xfrm>
            <a:off x="4524146" y="2560320"/>
            <a:ext cx="3143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來自尚未結案的出貨單，或調撥中的貨量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8F23A85A-CEC1-9D71-81F8-BE3DC63AE26F}"/>
              </a:ext>
            </a:extLst>
          </p:cNvPr>
          <p:cNvSpPr/>
          <p:nvPr/>
        </p:nvSpPr>
        <p:spPr>
          <a:xfrm>
            <a:off x="8097317" y="1828800"/>
            <a:ext cx="3545738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2033E4D6-DFCC-8B71-8778-4A5DEA6C1280}"/>
              </a:ext>
            </a:extLst>
          </p:cNvPr>
          <p:cNvSpPr/>
          <p:nvPr/>
        </p:nvSpPr>
        <p:spPr>
          <a:xfrm>
            <a:off x="8298485" y="2011680"/>
            <a:ext cx="3143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B5651D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低庫存提醒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2E36903-7C03-D5DC-DB46-8525115B155C}"/>
              </a:ext>
            </a:extLst>
          </p:cNvPr>
          <p:cNvSpPr/>
          <p:nvPr/>
        </p:nvSpPr>
        <p:spPr>
          <a:xfrm>
            <a:off x="8298485" y="2560320"/>
            <a:ext cx="3143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低於安全庫存量時自動標示，並建議補貨數量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90C7A8B5-68E3-A145-10E1-05B142A8F89A}"/>
              </a:ext>
            </a:extLst>
          </p:cNvPr>
          <p:cNvSpPr/>
          <p:nvPr/>
        </p:nvSpPr>
        <p:spPr>
          <a:xfrm>
            <a:off x="548640" y="3634002"/>
            <a:ext cx="11094415" cy="2057400"/>
          </a:xfrm>
          <a:prstGeom prst="roundRect">
            <a:avLst>
              <a:gd name="adj" fmla="val 355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1EBAB01D-1591-4F20-EC37-D4D9B1A7549C}"/>
              </a:ext>
            </a:extLst>
          </p:cNvPr>
          <p:cNvSpPr/>
          <p:nvPr/>
        </p:nvSpPr>
        <p:spPr>
          <a:xfrm>
            <a:off x="749808" y="373989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區間統計（僅計採購／銷貨，不含調撥）</a:t>
            </a:r>
            <a:endParaRPr lang="en-US" sz="105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90F3A3FC-91FD-0B34-85FE-F64C4D5B6D26}"/>
              </a:ext>
            </a:extLst>
          </p:cNvPr>
          <p:cNvSpPr/>
          <p:nvPr/>
        </p:nvSpPr>
        <p:spPr>
          <a:xfrm>
            <a:off x="749808" y="4014216"/>
            <a:ext cx="10692079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支援依「本月／本季／本年／累計」查看進貨量、出貨量、淨增量。</a:t>
            </a:r>
            <a:endParaRPr lang="en-US" sz="13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調撥視為內部倉庫間移動，刻意不計入這組區間統計數字，避免與「累計入</a:t>
            </a:r>
            <a:r>
              <a:rPr lang="zh-TW" alt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庫量</a:t>
            </a:r>
            <a:r>
              <a:rPr 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／</a:t>
            </a:r>
            <a:r>
              <a:rPr lang="zh-TW" alt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累計</a:t>
            </a:r>
            <a:r>
              <a:rPr lang="en-US" sz="1300" dirty="0" err="1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出庫量」混淆</a:t>
            </a:r>
            <a:r>
              <a:rPr lang="en-US" sz="13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。</a:t>
            </a:r>
            <a:endParaRPr lang="en-US" sz="1300" dirty="0">
              <a:solidFill>
                <a:srgbClr val="CC66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23520DFA-F454-E6D3-CE39-4DC1EA71E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86" y="660729"/>
            <a:ext cx="379476" cy="3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6796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D027FF8-A077-E22A-BAF0-22385C4B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6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38EBB8-02A5-4D9E-1C6E-9155F22B78B5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PURCHASE ORDER (PO) 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4EB4C0A-2E85-61FB-ABD3-152A11551E3F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採購進貨單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C79F7AFA-EF3F-9BF4-7311-6940370369AC}"/>
              </a:ext>
            </a:extLst>
          </p:cNvPr>
          <p:cNvSpPr/>
          <p:nvPr/>
        </p:nvSpPr>
        <p:spPr>
          <a:xfrm>
            <a:off x="548640" y="1883664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6F98BB71-0E4B-8B0F-CEEF-E8FC854E5CCC}"/>
              </a:ext>
            </a:extLst>
          </p:cNvPr>
          <p:cNvSpPr/>
          <p:nvPr/>
        </p:nvSpPr>
        <p:spPr>
          <a:xfrm>
            <a:off x="548640" y="18836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53B08C60-E61B-58AC-E714-4D5655316896}"/>
              </a:ext>
            </a:extLst>
          </p:cNvPr>
          <p:cNvSpPr/>
          <p:nvPr/>
        </p:nvSpPr>
        <p:spPr>
          <a:xfrm>
            <a:off x="1152144" y="1948433"/>
            <a:ext cx="1033684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選擇廠商後，於採購內容子表格填入商品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支援條碼掃描自動帶入商品名稱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定價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、供應廠商資料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重複掃碼採購數量自動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+1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16D86D54-A81E-15FF-9AC0-950AB255144E}"/>
              </a:ext>
            </a:extLst>
          </p:cNvPr>
          <p:cNvSpPr/>
          <p:nvPr/>
        </p:nvSpPr>
        <p:spPr>
          <a:xfrm>
            <a:off x="548640" y="2511944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16B6064-A2D9-A9AB-9A9A-C251D2E725E1}"/>
              </a:ext>
            </a:extLst>
          </p:cNvPr>
          <p:cNvSpPr/>
          <p:nvPr/>
        </p:nvSpPr>
        <p:spPr>
          <a:xfrm>
            <a:off x="548640" y="2511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9521C9C3-4063-9798-711B-8D3227278226}"/>
              </a:ext>
            </a:extLst>
          </p:cNvPr>
          <p:cNvSpPr/>
          <p:nvPr/>
        </p:nvSpPr>
        <p:spPr>
          <a:xfrm>
            <a:off x="1152144" y="2575065"/>
            <a:ext cx="606330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填寫「已入庫數量」，庫存總表的進貨量會同步更新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1BD76E15-C7EE-4F00-954C-934C229A77E2}"/>
              </a:ext>
            </a:extLst>
          </p:cNvPr>
          <p:cNvSpPr/>
          <p:nvPr/>
        </p:nvSpPr>
        <p:spPr>
          <a:xfrm>
            <a:off x="548640" y="3169726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2359B7ED-B2C6-3012-ECB4-CE4AD1D58754}"/>
              </a:ext>
            </a:extLst>
          </p:cNvPr>
          <p:cNvSpPr/>
          <p:nvPr/>
        </p:nvSpPr>
        <p:spPr>
          <a:xfrm>
            <a:off x="548640" y="31697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13D0542F-BF6F-E806-9918-73ECE7A42B8A}"/>
              </a:ext>
            </a:extLst>
          </p:cNvPr>
          <p:cNvSpPr/>
          <p:nvPr/>
        </p:nvSpPr>
        <p:spPr>
          <a:xfrm>
            <a:off x="1152144" y="3234495"/>
            <a:ext cx="988146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可從採購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進貨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單點擊動作按鈕快速建立「應付款項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或手動至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「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4-1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建立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6F4B6855-4527-D85F-24D7-FB2D4F956D56}"/>
              </a:ext>
            </a:extLst>
          </p:cNvPr>
          <p:cNvSpPr/>
          <p:nvPr/>
        </p:nvSpPr>
        <p:spPr>
          <a:xfrm>
            <a:off x="541266" y="3827502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05A77A2B-A8CF-105D-E939-95BB5A48538A}"/>
              </a:ext>
            </a:extLst>
          </p:cNvPr>
          <p:cNvSpPr/>
          <p:nvPr/>
        </p:nvSpPr>
        <p:spPr>
          <a:xfrm>
            <a:off x="541266" y="382750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ADB6AD9A-FA3C-2C8E-4238-D5F7709D7999}"/>
              </a:ext>
            </a:extLst>
          </p:cNvPr>
          <p:cNvSpPr/>
          <p:nvPr/>
        </p:nvSpPr>
        <p:spPr>
          <a:xfrm>
            <a:off x="1152145" y="3779890"/>
            <a:ext cx="9881462" cy="716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應付款項付款狀態設為「已付訖」後，會自動回寫採購單為「已立帳核銷</a:t>
            </a: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」，</a:t>
            </a:r>
            <a:r>
              <a:rPr lang="en-US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並帶入核銷日期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，已立帳核銷的進貨單於編輯時會跳出提示，需謹慎確認修改內容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94B884BA-729F-8489-0FCD-0DED0BA8D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621" y="662261"/>
            <a:ext cx="389889" cy="389889"/>
          </a:xfrm>
          <a:prstGeom prst="rect">
            <a:avLst/>
          </a:prstGeom>
        </p:spPr>
      </p:pic>
      <p:sp>
        <p:nvSpPr>
          <p:cNvPr id="21" name="Shape 12">
            <a:extLst>
              <a:ext uri="{FF2B5EF4-FFF2-40B4-BE49-F238E27FC236}">
                <a16:creationId xmlns:a16="http://schemas.microsoft.com/office/drawing/2014/main" id="{09E9F597-FFB3-CBD9-C13C-8810203E3A08}"/>
              </a:ext>
            </a:extLst>
          </p:cNvPr>
          <p:cNvSpPr/>
          <p:nvPr/>
        </p:nvSpPr>
        <p:spPr>
          <a:xfrm>
            <a:off x="556014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C2AFD1A0-160F-CB32-A6C3-EDAC15ABA9B5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核銷日期小提醒</a:t>
            </a:r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42121195-A36F-3E46-FAF4-0EA343F3FCC2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付款狀態為「已付訖」後，自動回填採購進貨單為「已立帳核銷」，並依付款方式回填核銷日期（支票回填預兌日期、匯款回填付款日期）</a:t>
            </a:r>
          </a:p>
        </p:txBody>
      </p:sp>
    </p:spTree>
    <p:extLst>
      <p:ext uri="{BB962C8B-B14F-4D97-AF65-F5344CB8AC3E}">
        <p14:creationId xmlns:p14="http://schemas.microsoft.com/office/powerpoint/2010/main" val="433565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BC153D1-9AE3-8924-72A4-583C38E74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7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784504B-73B7-D25B-3A03-CA48833FD32C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ACCOUNTS PAYABLE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6785DC-FEBF-3804-C755-5C03F6DEFD0C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應付款項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02893BB-E6C4-3174-B723-E910EB1A94A7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7DE71E2-62CB-876C-FA2B-3878230819AA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1B34219-127F-9EFD-7EE7-1F32232F7BB4}"/>
              </a:ext>
            </a:extLst>
          </p:cNvPr>
          <p:cNvSpPr/>
          <p:nvPr/>
        </p:nvSpPr>
        <p:spPr>
          <a:xfrm>
            <a:off x="1152144" y="1766560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可從採購單點擊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動作按鈕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快速建立「4-1 </a:t>
            </a:r>
            <a:r>
              <a:rPr lang="en-US" altLang="zh-TW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應付款項</a:t>
            </a:r>
            <a:r>
              <a:rPr lang="en-US" altLang="zh-TW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」，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將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自動帶入該採購單的單號與金額資料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；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手動建立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應付單</a:t>
            </a: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時，選擇廠商會自動帶入該廠商所有未結案採購單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1C8F753-72A8-AF2B-2317-A073130A8C78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FFEEF89-0BEA-6838-E8AC-32CD5238863E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03934D5-8146-F7F1-E592-C8BD4E223AE6}"/>
              </a:ext>
            </a:extLst>
          </p:cNvPr>
          <p:cNvSpPr/>
          <p:nvPr/>
        </p:nvSpPr>
        <p:spPr>
          <a:xfrm>
            <a:off x="1152144" y="2806320"/>
            <a:ext cx="104909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可填寫折讓金額，系統即時提示目前可用折讓餘額，超填則擋存檔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EE3B73-D064-72A9-8DFA-A20B53BC93E8}"/>
              </a:ext>
            </a:extLst>
          </p:cNvPr>
          <p:cNvSpPr/>
          <p:nvPr/>
        </p:nvSpPr>
        <p:spPr>
          <a:xfrm>
            <a:off x="548640" y="36576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4B7DB74-27E8-E7F7-EBEE-D65B3DB317BA}"/>
              </a:ext>
            </a:extLst>
          </p:cNvPr>
          <p:cNvSpPr/>
          <p:nvPr/>
        </p:nvSpPr>
        <p:spPr>
          <a:xfrm>
            <a:off x="54864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2A9FEB7-B9B6-25C8-5234-90BEBE4A761D}"/>
              </a:ext>
            </a:extLst>
          </p:cNvPr>
          <p:cNvSpPr/>
          <p:nvPr/>
        </p:nvSpPr>
        <p:spPr>
          <a:xfrm>
            <a:off x="1152144" y="3720720"/>
            <a:ext cx="10490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付款狀態設為「已付訖」後，自動回寫採購單為「已立帳核銷」並帶入核銷日期，同時更新廠商折讓餘額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B71CFFF-BFC3-1A58-F8AC-70AD5B5E2E7E}"/>
              </a:ext>
            </a:extLst>
          </p:cNvPr>
          <p:cNvSpPr/>
          <p:nvPr/>
        </p:nvSpPr>
        <p:spPr>
          <a:xfrm>
            <a:off x="548640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292C31C-54E0-7C3D-A2FC-64C87570A0D8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已結案提醒</a:t>
            </a:r>
            <a:endParaRPr lang="en-US" sz="1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F6D1856-95EB-0C28-D505-E7C954810B66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已立帳核銷的採購單再次編輯時，會跳出提醒：「此進貨單已結案，修改資料請謹慎確認，儲存後無法自動還原」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F1C3574C-36B7-D19C-1451-51E50372B6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0" y="643621"/>
            <a:ext cx="395021" cy="39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931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E2CB2CE-DBBD-7C29-0537-D17B28D27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20C0ED9-CF6A-1A02-0A20-59B39DF8EF2E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SHIPPING ORDER (SO)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47D2C44-9293-A2D9-7FF0-746D528AE7BB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銷貨出貨單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17B5BC46-8630-54C7-E8FF-CDBFE27A3F67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25285FF2-54FE-6DE4-BD31-AE8AD892F5C9}"/>
              </a:ext>
            </a:extLst>
          </p:cNvPr>
          <p:cNvSpPr/>
          <p:nvPr/>
        </p:nvSpPr>
        <p:spPr>
          <a:xfrm>
            <a:off x="548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584844FE-8B4B-CBC8-2CAE-65E221967335}"/>
              </a:ext>
            </a:extLst>
          </p:cNvPr>
          <p:cNvSpPr/>
          <p:nvPr/>
        </p:nvSpPr>
        <p:spPr>
          <a:xfrm>
            <a:off x="1152144" y="195239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選擇客戶後，商品價格會依客戶類型自動代入（零售價／批發價／網路價）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747ABCA5-549A-22FE-6E3B-80D132BD1E5C}"/>
              </a:ext>
            </a:extLst>
          </p:cNvPr>
          <p:cNvSpPr/>
          <p:nvPr/>
        </p:nvSpPr>
        <p:spPr>
          <a:xfrm>
            <a:off x="548640" y="283464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267738AF-87E4-665B-2072-606D9D5D525F}"/>
              </a:ext>
            </a:extLst>
          </p:cNvPr>
          <p:cNvSpPr/>
          <p:nvPr/>
        </p:nvSpPr>
        <p:spPr>
          <a:xfrm>
            <a:off x="54864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361DDAC-29F5-AB31-996F-D83CCA48A838}"/>
              </a:ext>
            </a:extLst>
          </p:cNvPr>
          <p:cNvSpPr/>
          <p:nvPr/>
        </p:nvSpPr>
        <p:spPr>
          <a:xfrm>
            <a:off x="1152144" y="291251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於出貨內容子表格選擇商品與出貨倉庫，系統即時顯示目前庫存可用量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77BAF243-FF93-939F-375A-C635C8A29B0F}"/>
              </a:ext>
            </a:extLst>
          </p:cNvPr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1CD08739-C1C4-B62F-2C5F-6A842A4B493F}"/>
              </a:ext>
            </a:extLst>
          </p:cNvPr>
          <p:cNvSpPr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83606883-32FE-67B6-603F-79C7CFC9317F}"/>
              </a:ext>
            </a:extLst>
          </p:cNvPr>
          <p:cNvSpPr/>
          <p:nvPr/>
        </p:nvSpPr>
        <p:spPr>
          <a:xfrm>
            <a:off x="1152144" y="3872630"/>
            <a:ext cx="1049091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尚未結案的出貨單，數量會計入庫存總表的「預約保留量」；確認結案後才會計入「累計出貨量／出貨量」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92058B2A-0AF7-48DE-8A74-15174FDA2FCB}"/>
              </a:ext>
            </a:extLst>
          </p:cNvPr>
          <p:cNvSpPr/>
          <p:nvPr/>
        </p:nvSpPr>
        <p:spPr>
          <a:xfrm>
            <a:off x="548640" y="475488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06D283AF-7670-C8FB-0189-14B969268515}"/>
              </a:ext>
            </a:extLst>
          </p:cNvPr>
          <p:cNvSpPr/>
          <p:nvPr/>
        </p:nvSpPr>
        <p:spPr>
          <a:xfrm>
            <a:off x="54864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A2C7429A-84C5-35F5-B53F-00B2F84C5CD1}"/>
              </a:ext>
            </a:extLst>
          </p:cNvPr>
          <p:cNvSpPr/>
          <p:nvPr/>
        </p:nvSpPr>
        <p:spPr>
          <a:xfrm>
            <a:off x="1152144" y="4832750"/>
            <a:ext cx="1049091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可單點擊動作按鈕快速建立「應收款項」，或手動至「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4-2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應收款項」建立</a:t>
            </a:r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ABBB9E78-97BA-9F54-13A0-029860BC78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07" y="693348"/>
            <a:ext cx="384048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516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30943DE-44B9-2FC4-4E1A-1C6D31494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D201932-0185-7F57-888E-6E0D26D45F1A}"/>
              </a:ext>
            </a:extLst>
          </p:cNvPr>
          <p:cNvSpPr/>
          <p:nvPr/>
        </p:nvSpPr>
        <p:spPr>
          <a:xfrm>
            <a:off x="1432408" y="4526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ACCOUNTS RECEIVABLE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608804D-AB7A-4814-DE7E-6DD16411DE69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應收款項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78FB6D5-F3F6-C382-99D7-5DE89FC077C9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D272AD9-11E0-E6CF-5889-FC23A9FFC9D6}"/>
              </a:ext>
            </a:extLst>
          </p:cNvPr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B16170C-0DBB-6D0C-37C3-3695A6682483}"/>
              </a:ext>
            </a:extLst>
          </p:cNvPr>
          <p:cNvSpPr/>
          <p:nvPr/>
        </p:nvSpPr>
        <p:spPr>
          <a:xfrm>
            <a:off x="1152144" y="189192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動作按鈕可自動帶入該銷貨單的單號與金額資料；手動建立時，選擇客戶名稱可自動帶入所有未結案的出貨單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F2FB041-640A-FE0C-F0FE-1CF80CC0FD00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7E816C3-BFF2-5039-070E-8D1460DE979A}"/>
              </a:ext>
            </a:extLst>
          </p:cNvPr>
          <p:cNvSpPr/>
          <p:nvPr/>
        </p:nvSpPr>
        <p:spPr>
          <a:xfrm>
            <a:off x="5486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CE0403A-9804-521A-B067-AD49817D959F}"/>
              </a:ext>
            </a:extLst>
          </p:cNvPr>
          <p:cNvSpPr/>
          <p:nvPr/>
        </p:nvSpPr>
        <p:spPr>
          <a:xfrm>
            <a:off x="1152144" y="2806320"/>
            <a:ext cx="1049091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altLang="zh-TW" sz="1400" dirty="0" err="1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收款狀態設為「已全額收訖」後，自動回寫銷貨單為「已立帳核銷</a:t>
            </a:r>
            <a:r>
              <a:rPr lang="en-US" altLang="zh-TW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」</a:t>
            </a:r>
            <a:r>
              <a:rPr lang="zh-TW" altLang="en-US" sz="1400" dirty="0">
                <a:solidFill>
                  <a:srgbClr val="334155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，並依收款方式回填核銷日期（支票回填預兌日期、匯款回填收款日期）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BDD4F78-282E-DE0F-861C-72030215E500}"/>
              </a:ext>
            </a:extLst>
          </p:cNvPr>
          <p:cNvSpPr/>
          <p:nvPr/>
        </p:nvSpPr>
        <p:spPr>
          <a:xfrm>
            <a:off x="548640" y="47091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FFBEB"/>
          </a:solidFill>
          <a:ln w="15875">
            <a:solidFill>
              <a:srgbClr val="FDE68A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8015304-A2EB-F123-D11D-0CEA32FF95DD}"/>
              </a:ext>
            </a:extLst>
          </p:cNvPr>
          <p:cNvSpPr/>
          <p:nvPr/>
        </p:nvSpPr>
        <p:spPr>
          <a:xfrm>
            <a:off x="749808" y="4837176"/>
            <a:ext cx="106920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已結案提醒</a:t>
            </a:r>
            <a:endParaRPr lang="en-US" sz="10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B9D6CB6-677E-9E03-0041-CA546AD5720F}"/>
              </a:ext>
            </a:extLst>
          </p:cNvPr>
          <p:cNvSpPr/>
          <p:nvPr/>
        </p:nvSpPr>
        <p:spPr>
          <a:xfrm>
            <a:off x="749808" y="5111496"/>
            <a:ext cx="10692079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9770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ourier New" pitchFamily="34" charset="-120"/>
              </a:rPr>
              <a:t>已立帳核銷且已結案的出貨單再次編輯時，會跳出提醒：「此出貨單已結案，修改資料請謹慎確認，儲存後無法自動還原」</a:t>
            </a:r>
            <a:endParaRPr lang="en-US" sz="13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589B457C-F2AB-0B09-35BD-AFB112529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0" y="642823"/>
            <a:ext cx="395021" cy="39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341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1261D927-43CE-5862-6079-BFB17A4FD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8361F9-B1E6-2688-8942-7FB638A5E2BE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TRANSFER ORDER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580C67-6BB7-5DE2-B3DB-6EF5F48EEF4B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調撥單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8F1452E7-962E-D3F9-6BA3-1B364B3DCE3F}"/>
              </a:ext>
            </a:extLst>
          </p:cNvPr>
          <p:cNvSpPr/>
          <p:nvPr/>
        </p:nvSpPr>
        <p:spPr>
          <a:xfrm>
            <a:off x="640080" y="1822308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  <p:txBody>
          <a:bodyPr/>
          <a:lstStyle/>
          <a:p>
            <a:endParaRPr lang="zh-TW" alt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7C6CF98-8564-42F9-82CE-CD81718411D4}"/>
              </a:ext>
            </a:extLst>
          </p:cNvPr>
          <p:cNvSpPr/>
          <p:nvPr/>
        </p:nvSpPr>
        <p:spPr>
          <a:xfrm>
            <a:off x="640080" y="18223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53E6E1C-E15D-25B0-17EA-3FECFC58AE49}"/>
              </a:ext>
            </a:extLst>
          </p:cNvPr>
          <p:cNvSpPr/>
          <p:nvPr/>
        </p:nvSpPr>
        <p:spPr>
          <a:xfrm>
            <a:off x="1188720" y="1645920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調撥借出：狀態為「已發貨／運輸中」時，庫存表會計入預約保留量；調撥完成後更新累計出庫量與累計入庫量</a:t>
            </a: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（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視為內部移動，</a:t>
            </a: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不影響出貨量</a:t>
            </a: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）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Shape 7">
            <a:extLst>
              <a:ext uri="{FF2B5EF4-FFF2-40B4-BE49-F238E27FC236}">
                <a16:creationId xmlns:a16="http://schemas.microsoft.com/office/drawing/2014/main" id="{835E0D77-0948-68D3-323B-109B6582E5A7}"/>
              </a:ext>
            </a:extLst>
          </p:cNvPr>
          <p:cNvSpPr/>
          <p:nvPr/>
        </p:nvSpPr>
        <p:spPr>
          <a:xfrm>
            <a:off x="640080" y="2562972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38F89944-1F43-0491-BA96-C2582B6CF16F}"/>
              </a:ext>
            </a:extLst>
          </p:cNvPr>
          <p:cNvSpPr/>
          <p:nvPr/>
        </p:nvSpPr>
        <p:spPr>
          <a:xfrm>
            <a:off x="640080" y="25629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2F51934C-DAB9-A9CE-DDA1-446594FB73AA}"/>
              </a:ext>
            </a:extLst>
          </p:cNvPr>
          <p:cNvSpPr/>
          <p:nvPr/>
        </p:nvSpPr>
        <p:spPr>
          <a:xfrm>
            <a:off x="1188720" y="2386584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借調歸還：可從下拉式選單選擇未歸還的調撥單號自動帶入資料，支援分批歸還，並提示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「可用庫存／剩餘需歸還」，同步產生借還紀錄追蹤明細</a:t>
            </a: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3D8DA7B0-F85C-4BA3-9F09-C72D3EB28376}"/>
              </a:ext>
            </a:extLst>
          </p:cNvPr>
          <p:cNvSpPr/>
          <p:nvPr/>
        </p:nvSpPr>
        <p:spPr>
          <a:xfrm>
            <a:off x="640080" y="3303636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253E753-F317-F0E4-87DC-12F6C909EFDE}"/>
              </a:ext>
            </a:extLst>
          </p:cNvPr>
          <p:cNvSpPr/>
          <p:nvPr/>
        </p:nvSpPr>
        <p:spPr>
          <a:xfrm>
            <a:off x="640080" y="33036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1662B6BA-2148-20CF-5AE3-2D9ADDA45EBC}"/>
              </a:ext>
            </a:extLst>
          </p:cNvPr>
          <p:cNvSpPr/>
          <p:nvPr/>
        </p:nvSpPr>
        <p:spPr>
          <a:xfrm>
            <a:off x="1188720" y="3127248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選擇商品名稱與撥出倉庫後</a:t>
            </a: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，</a:t>
            </a: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即時提示</a:t>
            </a:r>
            <a:r>
              <a:rPr lang="en-US" sz="1400" dirty="0" err="1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目前庫存可用量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1F4BF809-DDD5-15DB-B52C-8C2B117BE525}"/>
              </a:ext>
            </a:extLst>
          </p:cNvPr>
          <p:cNvSpPr/>
          <p:nvPr/>
        </p:nvSpPr>
        <p:spPr>
          <a:xfrm>
            <a:off x="640080" y="4044300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751F10A-4513-ACC0-FB31-5BBFE1075147}"/>
              </a:ext>
            </a:extLst>
          </p:cNvPr>
          <p:cNvSpPr/>
          <p:nvPr/>
        </p:nvSpPr>
        <p:spPr>
          <a:xfrm>
            <a:off x="640080" y="40443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4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F2B67A5B-7F28-60E7-A408-9A4F7EB3E265}"/>
              </a:ext>
            </a:extLst>
          </p:cNvPr>
          <p:cNvSpPr/>
          <p:nvPr/>
        </p:nvSpPr>
        <p:spPr>
          <a:xfrm>
            <a:off x="1188720" y="3867912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若撥出或撥入倉庫沒有該商品的庫存紀錄，會跳出防呆提示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9B30F3B4-5349-8790-7CFD-3C1EE6A56375}"/>
              </a:ext>
            </a:extLst>
          </p:cNvPr>
          <p:cNvSpPr/>
          <p:nvPr/>
        </p:nvSpPr>
        <p:spPr>
          <a:xfrm>
            <a:off x="640080" y="4784964"/>
            <a:ext cx="384048" cy="384048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75F18EBD-84AD-DF8B-84DA-58F6CFA6591C}"/>
              </a:ext>
            </a:extLst>
          </p:cNvPr>
          <p:cNvSpPr/>
          <p:nvPr/>
        </p:nvSpPr>
        <p:spPr>
          <a:xfrm>
            <a:off x="640080" y="47849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5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245B2FC8-7451-BFA1-8139-9E6FEC6CFE32}"/>
              </a:ext>
            </a:extLst>
          </p:cNvPr>
          <p:cNvSpPr/>
          <p:nvPr/>
        </p:nvSpPr>
        <p:spPr>
          <a:xfrm>
            <a:off x="1188720" y="4608576"/>
            <a:ext cx="9814255" cy="7406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1400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調撥單一旦發貨，除狀態欄位外其餘欄位鎖定，避免誤改</a:t>
            </a:r>
          </a:p>
        </p:txBody>
      </p:sp>
      <p:pic>
        <p:nvPicPr>
          <p:cNvPr id="24" name="Image 0" descr="preencoded.png">
            <a:extLst>
              <a:ext uri="{FF2B5EF4-FFF2-40B4-BE49-F238E27FC236}">
                <a16:creationId xmlns:a16="http://schemas.microsoft.com/office/drawing/2014/main" id="{9E77F8E2-560E-7BA9-587B-02A3F13B7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7" y="687396"/>
            <a:ext cx="384048" cy="384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26314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C82FEF8-0081-279F-2A3D-CF7788639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11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B8C98F-70E3-6D70-8B9E-6EAAECD1C1EC}"/>
              </a:ext>
            </a:extLst>
          </p:cNvPr>
          <p:cNvSpPr/>
          <p:nvPr/>
        </p:nvSpPr>
        <p:spPr>
          <a:xfrm>
            <a:off x="1432408" y="43891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C66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TRANSFER ORDER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D6B552-7172-F2FC-9829-92046F165F76}"/>
              </a:ext>
            </a:extLst>
          </p:cNvPr>
          <p:cNvSpPr/>
          <p:nvPr/>
        </p:nvSpPr>
        <p:spPr>
          <a:xfrm>
            <a:off x="1432408" y="722376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2800" b="1" dirty="0">
                <a:solidFill>
                  <a:srgbClr val="1E293B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常見防呆訊息對照表</a:t>
            </a: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24AD6FB4-95A9-D0BA-7BEC-B2E121CF52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786165"/>
              </p:ext>
            </p:extLst>
          </p:nvPr>
        </p:nvGraphicFramePr>
        <p:xfrm>
          <a:off x="548640" y="1783080"/>
          <a:ext cx="10911535" cy="4297678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64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訊息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採購進貨單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⚠️ 此商品在此倉庫無庫存建檔紀錄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該倉庫尚未建立此商品的庫存總表紀錄，需先建檔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採購進貨單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</a:t>
                      </a: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已入庫＋退貨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，，超過採購量！</a:t>
                      </a: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入庫與退貨加總不可超過原採購數量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銷貨出貨單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庫存不足！剩餘：xxx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出貨數量超過該倉庫目前可用庫存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銷貨出貨單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⛔ 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存檔失敗：明細中有商品庫存不足或倉庫無庫存。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同一張單多筆明細加總後，仍超過可用庫存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調撥單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</a:t>
                      </a: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撥出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倉庫</a:t>
                      </a: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／撥入倉庫無此商品紀錄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對應倉庫尚未建立此商品的庫存紀錄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39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應付</a:t>
                      </a:r>
                      <a:r>
                        <a:rPr lang="zh-TW" alt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款項</a:t>
                      </a:r>
                      <a:r>
                        <a:rPr lang="en-US" sz="11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／應收款項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15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❌ 超過可用折讓餘額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 err="1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本次折讓金額超過廠商目前的折讓餘額上限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52400" marR="152400" marT="101600" marB="1016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CAEF1E1A-3217-4108-FCE5-95B023FFF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524" y="656598"/>
            <a:ext cx="420624" cy="42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498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5FC54C7A-CA62-E050-5B92-BFC292FB1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B2381-8184-45B5-ADDF-E81116BDA999}" type="slidenum">
              <a:rPr lang="zh-TW" altLang="en-US" smtClean="0"/>
              <a:pPr/>
              <a:t>12</a:t>
            </a:fld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84627725-196D-C4DC-7345-DA2E55CF7022}"/>
              </a:ext>
            </a:extLst>
          </p:cNvPr>
          <p:cNvSpPr/>
          <p:nvPr/>
        </p:nvSpPr>
        <p:spPr>
          <a:xfrm>
            <a:off x="5638648" y="19202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E6627F68-5680-DA01-788B-E598AEA84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6664" y="2048256"/>
            <a:ext cx="658368" cy="658368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EFB8CEB-CE52-9F6A-973C-68734F25A6D6}"/>
              </a:ext>
            </a:extLst>
          </p:cNvPr>
          <p:cNvSpPr/>
          <p:nvPr/>
        </p:nvSpPr>
        <p:spPr>
          <a:xfrm>
            <a:off x="0" y="310896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mbria" pitchFamily="34" charset="-120"/>
              </a:rPr>
              <a:t>感謝閱讀</a:t>
            </a:r>
            <a:endParaRPr lang="en-US" sz="3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8889DFA-2867-2412-6DEE-BD3A2F4C3299}"/>
              </a:ext>
            </a:extLst>
          </p:cNvPr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FC3D6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如有設定或操作上的問題，歡迎隨時與威志雲端聯繫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371C71C6-36E1-A4CC-477B-FD7FA28AD6EC}"/>
              </a:ext>
            </a:extLst>
          </p:cNvPr>
          <p:cNvSpPr/>
          <p:nvPr/>
        </p:nvSpPr>
        <p:spPr>
          <a:xfrm>
            <a:off x="5364328" y="457200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E63D6FED-FD5E-DFCE-66FF-A1787FA0FAAC}"/>
              </a:ext>
            </a:extLst>
          </p:cNvPr>
          <p:cNvSpPr/>
          <p:nvPr/>
        </p:nvSpPr>
        <p:spPr>
          <a:xfrm>
            <a:off x="5364328" y="45720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威志雲端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3945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647</Words>
  <Application>Microsoft Office PowerPoint</Application>
  <PresentationFormat>寬螢幕</PresentationFormat>
  <Paragraphs>145</Paragraphs>
  <Slides>12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微軟正黑體</vt:lpstr>
      <vt:lpstr>Arial</vt:lpstr>
      <vt:lpstr>Calibri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NANA NIU</dc:creator>
  <cp:lastModifiedBy>NANA NIU</cp:lastModifiedBy>
  <cp:revision>7</cp:revision>
  <dcterms:created xsi:type="dcterms:W3CDTF">2026-07-03T08:07:20Z</dcterms:created>
  <dcterms:modified xsi:type="dcterms:W3CDTF">2026-07-06T04:33:09Z</dcterms:modified>
</cp:coreProperties>
</file>