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67" r:id="rId4"/>
    <p:sldId id="268" r:id="rId5"/>
    <p:sldId id="269" r:id="rId6"/>
    <p:sldId id="270" r:id="rId7"/>
    <p:sldId id="277" r:id="rId8"/>
    <p:sldId id="272" r:id="rId9"/>
    <p:sldId id="273" r:id="rId10"/>
    <p:sldId id="274" r:id="rId11"/>
    <p:sldId id="275" r:id="rId12"/>
    <p:sldId id="276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使用說明書" id="{622230AF-4FE5-4987-BD97-1687BF5EE257}">
          <p14:sldIdLst>
            <p14:sldId id="256"/>
            <p14:sldId id="258"/>
          </p14:sldIdLst>
        </p14:section>
        <p14:section name="使用者篇" id="{0EB06609-05DA-47E9-9416-A598CA83958C}">
          <p14:sldIdLst>
            <p14:sldId id="267"/>
            <p14:sldId id="268"/>
            <p14:sldId id="269"/>
            <p14:sldId id="270"/>
            <p14:sldId id="277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5A82"/>
    <a:srgbClr val="B5651D"/>
    <a:srgbClr val="CC6600"/>
    <a:srgbClr val="FFFBEB"/>
    <a:srgbClr val="FDE6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4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18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3D89C86-71A8-B587-1CDF-0DD315AEF7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5EE5AE-EE4C-76C6-D301-97326DD6F2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C5D28-F0D0-4594-A27C-571BA3E96410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0BBC5FE-3D59-6D48-0FF5-97A9E79F48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363A83-CE61-16B6-2D65-631A330D14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E63AA-9F6B-469E-B833-BE7B2E5E13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7246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96113-7302-4536-B4C8-A01590DC9D4A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1725F-9264-4466-B053-0C0DD1517C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917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1725F-9264-4466-B053-0C0DD1517C6B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291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46D537-A784-F6DA-1381-145AB6B5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DDABD8-CE7D-7E1A-9AB8-11BDC636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85A94E-ACA5-2F3C-D499-DB8D8740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1D979AEB-463E-7361-F3FA-462D055255AF}"/>
              </a:ext>
            </a:extLst>
          </p:cNvPr>
          <p:cNvSpPr/>
          <p:nvPr userDrawn="1"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02817CD9-DE39-4964-E386-F7092E4231EA}"/>
              </a:ext>
            </a:extLst>
          </p:cNvPr>
          <p:cNvSpPr/>
          <p:nvPr userDrawn="1"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CECD00AE-1EA0-F85A-AC68-77D42D49DA18}"/>
              </a:ext>
            </a:extLst>
          </p:cNvPr>
          <p:cNvSpPr/>
          <p:nvPr userDrawn="1"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8A90EF5-E55E-3CE6-7EB3-429A9A6378A2}"/>
              </a:ext>
            </a:extLst>
          </p:cNvPr>
          <p:cNvSpPr/>
          <p:nvPr userDrawn="1"/>
        </p:nvSpPr>
        <p:spPr>
          <a:xfrm>
            <a:off x="91440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C654E1D-8AC8-B81A-4F39-15A4838437A2}"/>
              </a:ext>
            </a:extLst>
          </p:cNvPr>
          <p:cNvSpPr/>
          <p:nvPr userDrawn="1"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582C14D2-0380-2123-BC8F-4BF89E023B30}"/>
              </a:ext>
            </a:extLst>
          </p:cNvPr>
          <p:cNvSpPr/>
          <p:nvPr userDrawn="1"/>
        </p:nvSpPr>
        <p:spPr>
          <a:xfrm>
            <a:off x="914400" y="4572000"/>
            <a:ext cx="2194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598484C-D958-744B-AAD1-D7370BB414F2}"/>
              </a:ext>
            </a:extLst>
          </p:cNvPr>
          <p:cNvSpPr/>
          <p:nvPr userDrawn="1"/>
        </p:nvSpPr>
        <p:spPr>
          <a:xfrm>
            <a:off x="838200" y="596772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86997A6B-0393-7F6D-2DEB-4209AE94D9CE}"/>
              </a:ext>
            </a:extLst>
          </p:cNvPr>
          <p:cNvSpPr/>
          <p:nvPr userDrawn="1"/>
        </p:nvSpPr>
        <p:spPr>
          <a:xfrm>
            <a:off x="7985455" y="5120640"/>
            <a:ext cx="566928" cy="566928"/>
          </a:xfrm>
          <a:prstGeom prst="ellipse">
            <a:avLst/>
          </a:prstGeom>
          <a:solidFill>
            <a:srgbClr val="D6E6EC"/>
          </a:solidFill>
          <a:ln/>
        </p:spPr>
        <p:txBody>
          <a:bodyPr/>
          <a:lstStyle/>
          <a:p>
            <a:endParaRPr lang="zh-TW" altLang="en-US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DB85E4B2-906F-3945-5304-480485987B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4825" y="5200010"/>
            <a:ext cx="408188" cy="408188"/>
          </a:xfrm>
          <a:prstGeom prst="rect">
            <a:avLst/>
          </a:prstGeom>
          <a:noFill/>
        </p:spPr>
      </p:pic>
      <p:sp>
        <p:nvSpPr>
          <p:cNvPr id="10" name="Shape 10">
            <a:extLst>
              <a:ext uri="{FF2B5EF4-FFF2-40B4-BE49-F238E27FC236}">
                <a16:creationId xmlns:a16="http://schemas.microsoft.com/office/drawing/2014/main" id="{FBBC2D19-FCF2-6148-DCF8-94C6D832A8EC}"/>
              </a:ext>
            </a:extLst>
          </p:cNvPr>
          <p:cNvSpPr/>
          <p:nvPr userDrawn="1"/>
        </p:nvSpPr>
        <p:spPr>
          <a:xfrm>
            <a:off x="8762695" y="5120640"/>
            <a:ext cx="566928" cy="566928"/>
          </a:xfrm>
          <a:prstGeom prst="ellipse">
            <a:avLst/>
          </a:prstGeom>
          <a:solidFill>
            <a:srgbClr val="D6E6EC"/>
          </a:solidFill>
          <a:ln/>
        </p:spPr>
        <p:txBody>
          <a:bodyPr/>
          <a:lstStyle/>
          <a:p>
            <a:endParaRPr lang="zh-TW" altLang="en-US" dirty="0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F9F95183-DBDF-6F55-39AB-AC8A7B1E52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2065" y="5200010"/>
            <a:ext cx="408188" cy="408188"/>
          </a:xfrm>
          <a:prstGeom prst="rect">
            <a:avLst/>
          </a:prstGeom>
        </p:spPr>
      </p:pic>
      <p:sp>
        <p:nvSpPr>
          <p:cNvPr id="14" name="Shape 11">
            <a:extLst>
              <a:ext uri="{FF2B5EF4-FFF2-40B4-BE49-F238E27FC236}">
                <a16:creationId xmlns:a16="http://schemas.microsoft.com/office/drawing/2014/main" id="{0BC319A7-5B6E-6760-6597-4AE75325D6C6}"/>
              </a:ext>
            </a:extLst>
          </p:cNvPr>
          <p:cNvSpPr/>
          <p:nvPr userDrawn="1"/>
        </p:nvSpPr>
        <p:spPr>
          <a:xfrm>
            <a:off x="9539935" y="5120640"/>
            <a:ext cx="566928" cy="566928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CCE67086-EB0E-D2A1-04B3-1997E4EFD8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19305" y="5200010"/>
            <a:ext cx="408188" cy="408188"/>
          </a:xfrm>
          <a:prstGeom prst="rect">
            <a:avLst/>
          </a:prstGeom>
        </p:spPr>
      </p:pic>
      <p:sp>
        <p:nvSpPr>
          <p:cNvPr id="36" name="Shape 12">
            <a:extLst>
              <a:ext uri="{FF2B5EF4-FFF2-40B4-BE49-F238E27FC236}">
                <a16:creationId xmlns:a16="http://schemas.microsoft.com/office/drawing/2014/main" id="{B7367D9C-3827-C964-E11E-A7A05A2462EB}"/>
              </a:ext>
            </a:extLst>
          </p:cNvPr>
          <p:cNvSpPr/>
          <p:nvPr userDrawn="1"/>
        </p:nvSpPr>
        <p:spPr>
          <a:xfrm>
            <a:off x="10317175" y="5120640"/>
            <a:ext cx="566928" cy="566928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3ECDEAC1-5FA1-B757-7C68-1DE06B7A102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396545" y="5200010"/>
            <a:ext cx="408188" cy="408188"/>
          </a:xfrm>
          <a:prstGeom prst="rect">
            <a:avLst/>
          </a:prstGeom>
        </p:spPr>
      </p:pic>
      <p:sp>
        <p:nvSpPr>
          <p:cNvPr id="40" name="Shape 13">
            <a:extLst>
              <a:ext uri="{FF2B5EF4-FFF2-40B4-BE49-F238E27FC236}">
                <a16:creationId xmlns:a16="http://schemas.microsoft.com/office/drawing/2014/main" id="{54A98BF9-344D-D5B6-0572-10D66EEAD673}"/>
              </a:ext>
            </a:extLst>
          </p:cNvPr>
          <p:cNvSpPr/>
          <p:nvPr userDrawn="1"/>
        </p:nvSpPr>
        <p:spPr>
          <a:xfrm>
            <a:off x="11094415" y="5120640"/>
            <a:ext cx="566928" cy="566928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B585ED91-3849-6C3C-DF2E-C6B940931A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3785" y="5200010"/>
            <a:ext cx="408188" cy="40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2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投影片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46D537-A784-F6DA-1381-145AB6B5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DDABD8-CE7D-7E1A-9AB8-11BDC636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85A94E-ACA5-2F3C-D499-DB8D8740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1D979AEB-463E-7361-F3FA-462D055255AF}"/>
              </a:ext>
            </a:extLst>
          </p:cNvPr>
          <p:cNvSpPr/>
          <p:nvPr userDrawn="1"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02817CD9-DE39-4964-E386-F7092E4231EA}"/>
              </a:ext>
            </a:extLst>
          </p:cNvPr>
          <p:cNvSpPr/>
          <p:nvPr userDrawn="1"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CECD00AE-1EA0-F85A-AC68-77D42D49DA18}"/>
              </a:ext>
            </a:extLst>
          </p:cNvPr>
          <p:cNvSpPr/>
          <p:nvPr userDrawn="1"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8A90EF5-E55E-3CE6-7EB3-429A9A6378A2}"/>
              </a:ext>
            </a:extLst>
          </p:cNvPr>
          <p:cNvSpPr/>
          <p:nvPr userDrawn="1"/>
        </p:nvSpPr>
        <p:spPr>
          <a:xfrm>
            <a:off x="91440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C654E1D-8AC8-B81A-4F39-15A4838437A2}"/>
              </a:ext>
            </a:extLst>
          </p:cNvPr>
          <p:cNvSpPr/>
          <p:nvPr userDrawn="1"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598484C-D958-744B-AAD1-D7370BB414F2}"/>
              </a:ext>
            </a:extLst>
          </p:cNvPr>
          <p:cNvSpPr/>
          <p:nvPr userDrawn="1"/>
        </p:nvSpPr>
        <p:spPr>
          <a:xfrm>
            <a:off x="838200" y="596772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35B541B4-951B-CC0D-4951-FEF6EDC3A450}"/>
              </a:ext>
            </a:extLst>
          </p:cNvPr>
          <p:cNvSpPr/>
          <p:nvPr userDrawn="1"/>
        </p:nvSpPr>
        <p:spPr>
          <a:xfrm>
            <a:off x="1234440" y="2560320"/>
            <a:ext cx="1371600" cy="1371600"/>
          </a:xfrm>
          <a:prstGeom prst="ellipse">
            <a:avLst/>
          </a:prstGeom>
          <a:gradFill flip="none" rotWithShape="1">
            <a:gsLst>
              <a:gs pos="0">
                <a:srgbClr val="1C7293">
                  <a:shade val="30000"/>
                  <a:satMod val="115000"/>
                </a:srgbClr>
              </a:gs>
              <a:gs pos="50000">
                <a:srgbClr val="1C7293">
                  <a:shade val="67500"/>
                  <a:satMod val="115000"/>
                </a:srgbClr>
              </a:gs>
              <a:gs pos="100000">
                <a:srgbClr val="1C7293">
                  <a:shade val="100000"/>
                  <a:satMod val="115000"/>
                </a:srgbClr>
              </a:gs>
            </a:gsLst>
            <a:lin ang="13500000" scaled="1"/>
            <a:tileRect/>
          </a:gradFill>
          <a:ln/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6451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AFDB56A-FBA2-D8EB-B13F-06C880C54B7B}"/>
              </a:ext>
            </a:extLst>
          </p:cNvPr>
          <p:cNvSpPr/>
          <p:nvPr userDrawn="1"/>
        </p:nvSpPr>
        <p:spPr>
          <a:xfrm>
            <a:off x="14173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D3FCA43-1246-80D0-324E-89E0518C5209}"/>
              </a:ext>
            </a:extLst>
          </p:cNvPr>
          <p:cNvSpPr/>
          <p:nvPr userDrawn="1"/>
        </p:nvSpPr>
        <p:spPr>
          <a:xfrm>
            <a:off x="1417320" y="7863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DD23F13-449C-5CFC-A014-BE5FA696C5CE}"/>
              </a:ext>
            </a:extLst>
          </p:cNvPr>
          <p:cNvSpPr/>
          <p:nvPr userDrawn="1"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A4FB9ECC-1C95-6CBE-8AC2-66E33FF1B2EF}"/>
              </a:ext>
            </a:extLst>
          </p:cNvPr>
          <p:cNvSpPr/>
          <p:nvPr userDrawn="1"/>
        </p:nvSpPr>
        <p:spPr>
          <a:xfrm>
            <a:off x="412955" y="6401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威志雲端｜簡易 </a:t>
            </a:r>
            <a:r>
              <a:rPr lang="en-US" altLang="zh-TW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ERP </a:t>
            </a: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 客戶操作指南</a:t>
            </a:r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F236C17E-12FB-26D3-E491-E0538997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4BFB2381-8184-45B5-ADDF-E81116BDA999}" type="slidenum">
              <a:rPr lang="zh-TW" altLang="en-US" smtClean="0"/>
              <a:pPr/>
              <a:t>‹#›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828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AFDB56A-FBA2-D8EB-B13F-06C880C54B7B}"/>
              </a:ext>
            </a:extLst>
          </p:cNvPr>
          <p:cNvSpPr/>
          <p:nvPr userDrawn="1"/>
        </p:nvSpPr>
        <p:spPr>
          <a:xfrm>
            <a:off x="14173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D3FCA43-1246-80D0-324E-89E0518C5209}"/>
              </a:ext>
            </a:extLst>
          </p:cNvPr>
          <p:cNvSpPr/>
          <p:nvPr userDrawn="1"/>
        </p:nvSpPr>
        <p:spPr>
          <a:xfrm>
            <a:off x="1417320" y="7863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DD23F13-449C-5CFC-A014-BE5FA696C5CE}"/>
              </a:ext>
            </a:extLst>
          </p:cNvPr>
          <p:cNvSpPr/>
          <p:nvPr userDrawn="1"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A4FB9ECC-1C95-6CBE-8AC2-66E33FF1B2EF}"/>
              </a:ext>
            </a:extLst>
          </p:cNvPr>
          <p:cNvSpPr/>
          <p:nvPr userDrawn="1"/>
        </p:nvSpPr>
        <p:spPr>
          <a:xfrm>
            <a:off x="412955" y="6401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威志雲端｜簡易 </a:t>
            </a:r>
            <a:r>
              <a:rPr lang="en-US" altLang="zh-TW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ERP </a:t>
            </a: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 客戶操作指南</a:t>
            </a:r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F236C17E-12FB-26D3-E491-E0538997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4BFB2381-8184-45B5-ADDF-E81116BDA999}" type="slidenum">
              <a:rPr lang="zh-TW" altLang="en-US" smtClean="0"/>
              <a:pPr/>
              <a:t>‹#›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19BBA340-2EE4-3BA6-C11D-225093ADFA14}"/>
              </a:ext>
            </a:extLst>
          </p:cNvPr>
          <p:cNvSpPr/>
          <p:nvPr userDrawn="1"/>
        </p:nvSpPr>
        <p:spPr>
          <a:xfrm>
            <a:off x="10554484" y="554736"/>
            <a:ext cx="997131" cy="320040"/>
          </a:xfrm>
          <a:prstGeom prst="roundRect">
            <a:avLst>
              <a:gd name="adj" fmla="val 27379"/>
            </a:avLst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開發者篇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1143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AFDB56A-FBA2-D8EB-B13F-06C880C54B7B}"/>
              </a:ext>
            </a:extLst>
          </p:cNvPr>
          <p:cNvSpPr/>
          <p:nvPr userDrawn="1"/>
        </p:nvSpPr>
        <p:spPr>
          <a:xfrm>
            <a:off x="14173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D3FCA43-1246-80D0-324E-89E0518C5209}"/>
              </a:ext>
            </a:extLst>
          </p:cNvPr>
          <p:cNvSpPr/>
          <p:nvPr userDrawn="1"/>
        </p:nvSpPr>
        <p:spPr>
          <a:xfrm>
            <a:off x="1417320" y="7863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DD23F13-449C-5CFC-A014-BE5FA696C5CE}"/>
              </a:ext>
            </a:extLst>
          </p:cNvPr>
          <p:cNvSpPr/>
          <p:nvPr userDrawn="1"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A4FB9ECC-1C95-6CBE-8AC2-66E33FF1B2EF}"/>
              </a:ext>
            </a:extLst>
          </p:cNvPr>
          <p:cNvSpPr/>
          <p:nvPr userDrawn="1"/>
        </p:nvSpPr>
        <p:spPr>
          <a:xfrm>
            <a:off x="412955" y="6401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威志雲端｜簡易 </a:t>
            </a:r>
            <a:r>
              <a:rPr lang="en-US" altLang="zh-TW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ERP </a:t>
            </a: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 客戶操作指南</a:t>
            </a:r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F236C17E-12FB-26D3-E491-E0538997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4BFB2381-8184-45B5-ADDF-E81116BDA999}" type="slidenum">
              <a:rPr lang="zh-TW" altLang="en-US" smtClean="0"/>
              <a:pPr/>
              <a:t>‹#›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31A73E0B-9D8C-9014-5CA4-8F218DC5227A}"/>
              </a:ext>
            </a:extLst>
          </p:cNvPr>
          <p:cNvSpPr/>
          <p:nvPr userDrawn="1"/>
        </p:nvSpPr>
        <p:spPr>
          <a:xfrm>
            <a:off x="10554484" y="554736"/>
            <a:ext cx="997131" cy="320040"/>
          </a:xfrm>
          <a:prstGeom prst="roundRect">
            <a:avLst>
              <a:gd name="adj" fmla="val 27379"/>
            </a:avLst>
          </a:prstGeom>
          <a:solidFill>
            <a:srgbClr val="FFC000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使用者篇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102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日期版面配置區 3">
            <a:extLst>
              <a:ext uri="{FF2B5EF4-FFF2-40B4-BE49-F238E27FC236}">
                <a16:creationId xmlns:a16="http://schemas.microsoft.com/office/drawing/2014/main" id="{4547B7B8-A2AD-9946-D893-5F458A71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6" name="頁尾版面配置區 4">
            <a:extLst>
              <a:ext uri="{FF2B5EF4-FFF2-40B4-BE49-F238E27FC236}">
                <a16:creationId xmlns:a16="http://schemas.microsoft.com/office/drawing/2014/main" id="{C2F032DE-2486-2459-A4DE-DAAD2225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7" name="投影片編號版面配置區 5">
            <a:extLst>
              <a:ext uri="{FF2B5EF4-FFF2-40B4-BE49-F238E27FC236}">
                <a16:creationId xmlns:a16="http://schemas.microsoft.com/office/drawing/2014/main" id="{BCE9CD70-B781-8BE7-E26E-6CB3E20D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BFB2381-8184-45B5-ADDF-E81116BDA99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64CDEFAD-3581-7CBB-1DF5-55E0647C6B26}"/>
              </a:ext>
            </a:extLst>
          </p:cNvPr>
          <p:cNvSpPr/>
          <p:nvPr userDrawn="1"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5CBCFAB6-3ED7-992A-0D4E-896AE9C5169F}"/>
              </a:ext>
            </a:extLst>
          </p:cNvPr>
          <p:cNvSpPr/>
          <p:nvPr userDrawn="1"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85A7E507-2360-5D4D-0396-93FF434153C0}"/>
              </a:ext>
            </a:extLst>
          </p:cNvPr>
          <p:cNvSpPr/>
          <p:nvPr userDrawn="1"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9CC61B25-A5A4-9984-66FF-DF18927166E0}"/>
              </a:ext>
            </a:extLst>
          </p:cNvPr>
          <p:cNvSpPr/>
          <p:nvPr userDrawn="1"/>
        </p:nvSpPr>
        <p:spPr>
          <a:xfrm>
            <a:off x="91440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B6E09626-D60F-A471-08A2-F8B210613E62}"/>
              </a:ext>
            </a:extLst>
          </p:cNvPr>
          <p:cNvSpPr/>
          <p:nvPr userDrawn="1"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D220572B-EB2A-930A-F8FE-8AFB243B5FE5}"/>
              </a:ext>
            </a:extLst>
          </p:cNvPr>
          <p:cNvSpPr/>
          <p:nvPr userDrawn="1"/>
        </p:nvSpPr>
        <p:spPr>
          <a:xfrm>
            <a:off x="838200" y="596772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879F42C4-5C70-D121-0DED-AF0FF3E09EC4}"/>
              </a:ext>
            </a:extLst>
          </p:cNvPr>
          <p:cNvSpPr/>
          <p:nvPr userDrawn="1"/>
        </p:nvSpPr>
        <p:spPr>
          <a:xfrm>
            <a:off x="4564730" y="5472577"/>
            <a:ext cx="423539" cy="423539"/>
          </a:xfrm>
          <a:prstGeom prst="ellipse">
            <a:avLst/>
          </a:prstGeom>
          <a:solidFill>
            <a:srgbClr val="D6E6EC"/>
          </a:solidFill>
          <a:ln/>
        </p:spPr>
        <p:txBody>
          <a:bodyPr/>
          <a:lstStyle/>
          <a:p>
            <a:endParaRPr lang="zh-TW" altLang="en-US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D0F6893-F753-A19B-5AE4-35E65E0D5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6386" y="5556249"/>
            <a:ext cx="249814" cy="249814"/>
          </a:xfrm>
          <a:prstGeom prst="rect">
            <a:avLst/>
          </a:prstGeom>
          <a:noFill/>
        </p:spPr>
      </p:pic>
      <p:sp>
        <p:nvSpPr>
          <p:cNvPr id="7" name="Shape 10">
            <a:extLst>
              <a:ext uri="{FF2B5EF4-FFF2-40B4-BE49-F238E27FC236}">
                <a16:creationId xmlns:a16="http://schemas.microsoft.com/office/drawing/2014/main" id="{6CFF2C59-B702-A10D-70CB-2EB9C57C8E75}"/>
              </a:ext>
            </a:extLst>
          </p:cNvPr>
          <p:cNvSpPr/>
          <p:nvPr userDrawn="1"/>
        </p:nvSpPr>
        <p:spPr>
          <a:xfrm>
            <a:off x="5214970" y="5472577"/>
            <a:ext cx="423539" cy="423539"/>
          </a:xfrm>
          <a:prstGeom prst="ellipse">
            <a:avLst/>
          </a:prstGeom>
          <a:solidFill>
            <a:srgbClr val="D6E6EC"/>
          </a:solidFill>
          <a:ln/>
        </p:spPr>
        <p:txBody>
          <a:bodyPr/>
          <a:lstStyle/>
          <a:p>
            <a:endParaRPr lang="zh-TW" altLang="en-US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3C451A5E-9C19-7B58-46B3-A654EF6C55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96626" y="5556249"/>
            <a:ext cx="249814" cy="249814"/>
          </a:xfrm>
          <a:prstGeom prst="rect">
            <a:avLst/>
          </a:prstGeom>
        </p:spPr>
      </p:pic>
      <p:sp>
        <p:nvSpPr>
          <p:cNvPr id="11" name="Shape 11">
            <a:extLst>
              <a:ext uri="{FF2B5EF4-FFF2-40B4-BE49-F238E27FC236}">
                <a16:creationId xmlns:a16="http://schemas.microsoft.com/office/drawing/2014/main" id="{45FF00D6-7B1E-5C93-B140-D49E45AF56AC}"/>
              </a:ext>
            </a:extLst>
          </p:cNvPr>
          <p:cNvSpPr/>
          <p:nvPr userDrawn="1"/>
        </p:nvSpPr>
        <p:spPr>
          <a:xfrm>
            <a:off x="5865210" y="5472577"/>
            <a:ext cx="423539" cy="423539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210EDC34-40EF-538D-2C4E-42DB2301150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46866" y="5556249"/>
            <a:ext cx="249814" cy="249814"/>
          </a:xfrm>
          <a:prstGeom prst="rect">
            <a:avLst/>
          </a:prstGeom>
        </p:spPr>
      </p:pic>
      <p:sp>
        <p:nvSpPr>
          <p:cNvPr id="15" name="Shape 12">
            <a:extLst>
              <a:ext uri="{FF2B5EF4-FFF2-40B4-BE49-F238E27FC236}">
                <a16:creationId xmlns:a16="http://schemas.microsoft.com/office/drawing/2014/main" id="{E9F1DE5A-5C5B-F7DF-C26C-311125E5F5E1}"/>
              </a:ext>
            </a:extLst>
          </p:cNvPr>
          <p:cNvSpPr/>
          <p:nvPr userDrawn="1"/>
        </p:nvSpPr>
        <p:spPr>
          <a:xfrm>
            <a:off x="6515450" y="5472577"/>
            <a:ext cx="423539" cy="423539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D3871603-35BD-1BEB-5890-1CB19196369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97106" y="5556249"/>
            <a:ext cx="249814" cy="249814"/>
          </a:xfrm>
          <a:prstGeom prst="rect">
            <a:avLst/>
          </a:prstGeom>
        </p:spPr>
      </p:pic>
      <p:sp>
        <p:nvSpPr>
          <p:cNvPr id="19" name="Shape 13">
            <a:extLst>
              <a:ext uri="{FF2B5EF4-FFF2-40B4-BE49-F238E27FC236}">
                <a16:creationId xmlns:a16="http://schemas.microsoft.com/office/drawing/2014/main" id="{3445F895-A335-35E0-1A3A-C54229A11277}"/>
              </a:ext>
            </a:extLst>
          </p:cNvPr>
          <p:cNvSpPr/>
          <p:nvPr userDrawn="1"/>
        </p:nvSpPr>
        <p:spPr>
          <a:xfrm>
            <a:off x="7229190" y="5472577"/>
            <a:ext cx="423539" cy="423539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A5814A84-226A-76A8-F01A-8581E9F4356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310846" y="5556249"/>
            <a:ext cx="249814" cy="24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7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679D5A-A137-E0E5-C232-5F2582BC9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46CA57-B6C5-C526-5999-C39331C4C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28A933-06B3-635D-3DBC-A86567567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B2381-8184-45B5-ADDF-E81116BDA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37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2" r:id="rId4"/>
    <p:sldLayoutId id="2147483651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3">
            <a:extLst>
              <a:ext uri="{FF2B5EF4-FFF2-40B4-BE49-F238E27FC236}">
                <a16:creationId xmlns:a16="http://schemas.microsoft.com/office/drawing/2014/main" id="{4E375BC0-04A2-AB55-AA9A-94E84E61C23A}"/>
              </a:ext>
            </a:extLst>
          </p:cNvPr>
          <p:cNvSpPr/>
          <p:nvPr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 err="1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威志雲端</a:t>
            </a:r>
            <a:r>
              <a:rPr lang="en-US" sz="1400" b="1" kern="0" spc="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　KINTONE</a:t>
            </a:r>
            <a:r>
              <a:rPr lang="zh-TW" altLang="en-US" sz="1400" b="1" kern="0" spc="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sz="1400" b="1" kern="0" spc="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ERP SYSTEM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CA3D194-2790-7F5D-6661-DE88052F4A99}"/>
              </a:ext>
            </a:extLst>
          </p:cNvPr>
          <p:cNvSpPr/>
          <p:nvPr/>
        </p:nvSpPr>
        <p:spPr>
          <a:xfrm>
            <a:off x="91440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簡易ERP系統</a:t>
            </a: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DFFF531-BA73-2F07-787D-49E108FB8CB1}"/>
              </a:ext>
            </a:extLst>
          </p:cNvPr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0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使用說明書 </a:t>
            </a:r>
            <a:r>
              <a:rPr lang="en-US" altLang="zh-TW" sz="20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·</a:t>
            </a:r>
            <a:r>
              <a:rPr lang="zh-TW" altLang="en-US" sz="20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客戶操作指南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9CBE13B9-BE9C-299F-3B78-89C70561AF4B}"/>
              </a:ext>
            </a:extLst>
          </p:cNvPr>
          <p:cNvSpPr/>
          <p:nvPr/>
        </p:nvSpPr>
        <p:spPr>
          <a:xfrm>
            <a:off x="91440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TW" sz="1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2026.07</a:t>
            </a:r>
            <a:r>
              <a:rPr lang="zh-TW" altLang="en-US" sz="1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　第一版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F3225BBD-4AEE-C53A-7A77-33F57E6A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9375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1">
            <a:extLst>
              <a:ext uri="{FF2B5EF4-FFF2-40B4-BE49-F238E27FC236}">
                <a16:creationId xmlns:a16="http://schemas.microsoft.com/office/drawing/2014/main" id="{E70DFDE1-7CA7-E257-9DE2-BA94E873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BFB2381-8184-45B5-ADDF-E81116BDA999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B2B3A92-6F80-7B8A-4F8F-F533D87E7C9B}"/>
              </a:ext>
            </a:extLst>
          </p:cNvPr>
          <p:cNvSpPr/>
          <p:nvPr/>
        </p:nvSpPr>
        <p:spPr>
          <a:xfrm>
            <a:off x="640080" y="1828800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181F1B33-9F9B-C3CE-7CFD-53E44B3B7D55}"/>
              </a:ext>
            </a:extLst>
          </p:cNvPr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F0895629-9B83-2463-5427-6F296845DA0C}"/>
              </a:ext>
            </a:extLst>
          </p:cNvPr>
          <p:cNvSpPr/>
          <p:nvPr/>
        </p:nvSpPr>
        <p:spPr>
          <a:xfrm>
            <a:off x="1508760" y="1993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41DF54D5-FA58-3887-A47F-76076785A916}"/>
              </a:ext>
            </a:extLst>
          </p:cNvPr>
          <p:cNvSpPr/>
          <p:nvPr/>
        </p:nvSpPr>
        <p:spPr>
          <a:xfrm>
            <a:off x="1508760" y="221284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主檔資料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5338ACF6-B303-AE3C-0B6C-30340F9F2D6E}"/>
              </a:ext>
            </a:extLst>
          </p:cNvPr>
          <p:cNvSpPr/>
          <p:nvPr/>
        </p:nvSpPr>
        <p:spPr>
          <a:xfrm>
            <a:off x="960120" y="270249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0-1 </a:t>
            </a:r>
            <a:r>
              <a:rPr lang="en-US" sz="1150" dirty="0" err="1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公司倉庫資料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0-2 客戶資料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0-3 廠商資料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0-4 商品資料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291F3E6F-67BB-1E51-D091-6FE269D716CE}"/>
              </a:ext>
            </a:extLst>
          </p:cNvPr>
          <p:cNvSpPr/>
          <p:nvPr/>
        </p:nvSpPr>
        <p:spPr>
          <a:xfrm>
            <a:off x="4383938" y="1828800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C1AEC4C9-F1C1-CD88-133C-7C7671BFCF1B}"/>
              </a:ext>
            </a:extLst>
          </p:cNvPr>
          <p:cNvSpPr/>
          <p:nvPr/>
        </p:nvSpPr>
        <p:spPr>
          <a:xfrm>
            <a:off x="4612538" y="201168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AA6E5113-F14A-DE71-9800-C4358F91A5D0}"/>
              </a:ext>
            </a:extLst>
          </p:cNvPr>
          <p:cNvSpPr/>
          <p:nvPr/>
        </p:nvSpPr>
        <p:spPr>
          <a:xfrm>
            <a:off x="5252618" y="1993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0ABF45E0-4CE2-FD47-2D5F-BDDAA68CCFDD}"/>
              </a:ext>
            </a:extLst>
          </p:cNvPr>
          <p:cNvSpPr/>
          <p:nvPr/>
        </p:nvSpPr>
        <p:spPr>
          <a:xfrm>
            <a:off x="5252618" y="221284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庫存管理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8A5B19E3-5472-9C52-CD46-709350F21E40}"/>
              </a:ext>
            </a:extLst>
          </p:cNvPr>
          <p:cNvSpPr/>
          <p:nvPr/>
        </p:nvSpPr>
        <p:spPr>
          <a:xfrm>
            <a:off x="4703978" y="270249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1-1 庫存總表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3E00CB71-9641-E165-58FE-3C10866C6FA1}"/>
              </a:ext>
            </a:extLst>
          </p:cNvPr>
          <p:cNvSpPr/>
          <p:nvPr/>
        </p:nvSpPr>
        <p:spPr>
          <a:xfrm>
            <a:off x="8127797" y="1828800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E3737A41-1C91-E70A-9226-6C645CA7AB4F}"/>
              </a:ext>
            </a:extLst>
          </p:cNvPr>
          <p:cNvSpPr/>
          <p:nvPr/>
        </p:nvSpPr>
        <p:spPr>
          <a:xfrm>
            <a:off x="8356397" y="201168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5B472E21-C098-8675-559B-26AEE30EDF48}"/>
              </a:ext>
            </a:extLst>
          </p:cNvPr>
          <p:cNvSpPr/>
          <p:nvPr/>
        </p:nvSpPr>
        <p:spPr>
          <a:xfrm>
            <a:off x="8996477" y="1993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E8842878-6E68-F4BC-6386-B818FA8AC7C9}"/>
              </a:ext>
            </a:extLst>
          </p:cNvPr>
          <p:cNvSpPr/>
          <p:nvPr/>
        </p:nvSpPr>
        <p:spPr>
          <a:xfrm>
            <a:off x="8996477" y="221284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採購作業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B87A6784-698B-5D7D-A0EF-48B114F6C5AB}"/>
              </a:ext>
            </a:extLst>
          </p:cNvPr>
          <p:cNvSpPr/>
          <p:nvPr/>
        </p:nvSpPr>
        <p:spPr>
          <a:xfrm>
            <a:off x="8447837" y="270249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2-1 採購進貨單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49560710-0CFE-AEA7-C9C1-BCF280AB314F}"/>
              </a:ext>
            </a:extLst>
          </p:cNvPr>
          <p:cNvSpPr/>
          <p:nvPr/>
        </p:nvSpPr>
        <p:spPr>
          <a:xfrm>
            <a:off x="640080" y="4023360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B896B2F5-1CC0-3F77-2760-BC9D92440B12}"/>
              </a:ext>
            </a:extLst>
          </p:cNvPr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F5F80241-0072-FD6F-5908-40B5D13BE1E1}"/>
              </a:ext>
            </a:extLst>
          </p:cNvPr>
          <p:cNvSpPr/>
          <p:nvPr/>
        </p:nvSpPr>
        <p:spPr>
          <a:xfrm>
            <a:off x="1508760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13853744-2A78-CDFF-3D12-71086D99EB1F}"/>
              </a:ext>
            </a:extLst>
          </p:cNvPr>
          <p:cNvSpPr/>
          <p:nvPr/>
        </p:nvSpPr>
        <p:spPr>
          <a:xfrm>
            <a:off x="1508760" y="440740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銷貨作業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42350087-760E-5016-105D-50639B156446}"/>
              </a:ext>
            </a:extLst>
          </p:cNvPr>
          <p:cNvSpPr/>
          <p:nvPr/>
        </p:nvSpPr>
        <p:spPr>
          <a:xfrm>
            <a:off x="960120" y="489705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3-1 銷貨出貨單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0DF20AB3-40E7-A101-266F-E30C2A1C0535}"/>
              </a:ext>
            </a:extLst>
          </p:cNvPr>
          <p:cNvSpPr/>
          <p:nvPr/>
        </p:nvSpPr>
        <p:spPr>
          <a:xfrm>
            <a:off x="4383938" y="4023360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6DE40D7A-E7DA-E942-7380-C01AF1422A16}"/>
              </a:ext>
            </a:extLst>
          </p:cNvPr>
          <p:cNvSpPr/>
          <p:nvPr/>
        </p:nvSpPr>
        <p:spPr>
          <a:xfrm>
            <a:off x="4612538" y="420624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A6F8C145-B6D6-3AE8-D762-ECD9B1D2A2CE}"/>
              </a:ext>
            </a:extLst>
          </p:cNvPr>
          <p:cNvSpPr/>
          <p:nvPr/>
        </p:nvSpPr>
        <p:spPr>
          <a:xfrm>
            <a:off x="5252618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51B64D13-B1F7-E86F-7B9B-0837C4479A3A}"/>
              </a:ext>
            </a:extLst>
          </p:cNvPr>
          <p:cNvSpPr/>
          <p:nvPr/>
        </p:nvSpPr>
        <p:spPr>
          <a:xfrm>
            <a:off x="5252618" y="440740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金流管理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4B78E0BC-C06D-D29A-3468-F91F98BB6F36}"/>
              </a:ext>
            </a:extLst>
          </p:cNvPr>
          <p:cNvSpPr/>
          <p:nvPr/>
        </p:nvSpPr>
        <p:spPr>
          <a:xfrm>
            <a:off x="4703978" y="489705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4-1 應付款項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4-2 應收款項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Shape 29">
            <a:extLst>
              <a:ext uri="{FF2B5EF4-FFF2-40B4-BE49-F238E27FC236}">
                <a16:creationId xmlns:a16="http://schemas.microsoft.com/office/drawing/2014/main" id="{8E8DF228-3219-028B-FC19-53EA811B810A}"/>
              </a:ext>
            </a:extLst>
          </p:cNvPr>
          <p:cNvSpPr/>
          <p:nvPr/>
        </p:nvSpPr>
        <p:spPr>
          <a:xfrm>
            <a:off x="8127797" y="3964368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68" name="Shape 30">
            <a:extLst>
              <a:ext uri="{FF2B5EF4-FFF2-40B4-BE49-F238E27FC236}">
                <a16:creationId xmlns:a16="http://schemas.microsoft.com/office/drawing/2014/main" id="{90E0D42D-E613-3869-DACC-79BF31DA66B7}"/>
              </a:ext>
            </a:extLst>
          </p:cNvPr>
          <p:cNvSpPr/>
          <p:nvPr/>
        </p:nvSpPr>
        <p:spPr>
          <a:xfrm>
            <a:off x="8356397" y="420624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9B20C842-C2D8-D4E3-21F4-351D02DACBE0}"/>
              </a:ext>
            </a:extLst>
          </p:cNvPr>
          <p:cNvSpPr/>
          <p:nvPr/>
        </p:nvSpPr>
        <p:spPr>
          <a:xfrm>
            <a:off x="8996477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5-X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 32">
            <a:extLst>
              <a:ext uri="{FF2B5EF4-FFF2-40B4-BE49-F238E27FC236}">
                <a16:creationId xmlns:a16="http://schemas.microsoft.com/office/drawing/2014/main" id="{DD6A213E-3E48-50DF-04D6-4186C2B44660}"/>
              </a:ext>
            </a:extLst>
          </p:cNvPr>
          <p:cNvSpPr/>
          <p:nvPr/>
        </p:nvSpPr>
        <p:spPr>
          <a:xfrm>
            <a:off x="8996477" y="440740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調撥作業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 33">
            <a:extLst>
              <a:ext uri="{FF2B5EF4-FFF2-40B4-BE49-F238E27FC236}">
                <a16:creationId xmlns:a16="http://schemas.microsoft.com/office/drawing/2014/main" id="{62CFE8FC-A58B-2163-DAED-F962AA9D5CFC}"/>
              </a:ext>
            </a:extLst>
          </p:cNvPr>
          <p:cNvSpPr/>
          <p:nvPr/>
        </p:nvSpPr>
        <p:spPr>
          <a:xfrm>
            <a:off x="8447837" y="489705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5-1 調撥單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2" name="Image 0" descr="preencoded.png">
            <a:extLst>
              <a:ext uri="{FF2B5EF4-FFF2-40B4-BE49-F238E27FC236}">
                <a16:creationId xmlns:a16="http://schemas.microsoft.com/office/drawing/2014/main" id="{B374AF33-6482-7CB0-DD2D-210146AA1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65" y="2154445"/>
            <a:ext cx="293967" cy="293967"/>
          </a:xfrm>
          <a:prstGeom prst="rect">
            <a:avLst/>
          </a:prstGeom>
        </p:spPr>
      </p:pic>
      <p:pic>
        <p:nvPicPr>
          <p:cNvPr id="73" name="Image 1" descr="preencoded.png">
            <a:extLst>
              <a:ext uri="{FF2B5EF4-FFF2-40B4-BE49-F238E27FC236}">
                <a16:creationId xmlns:a16="http://schemas.microsoft.com/office/drawing/2014/main" id="{04C0429F-048C-644E-719D-5455A847F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169" y="2091911"/>
            <a:ext cx="365761" cy="365761"/>
          </a:xfrm>
          <a:prstGeom prst="rect">
            <a:avLst/>
          </a:prstGeom>
        </p:spPr>
      </p:pic>
      <p:pic>
        <p:nvPicPr>
          <p:cNvPr id="74" name="Image 2" descr="preencoded.png">
            <a:extLst>
              <a:ext uri="{FF2B5EF4-FFF2-40B4-BE49-F238E27FC236}">
                <a16:creationId xmlns:a16="http://schemas.microsoft.com/office/drawing/2014/main" id="{4AE5F2DC-7F4C-6123-AFE4-8C130277D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575" y="2097810"/>
            <a:ext cx="365760" cy="365760"/>
          </a:xfrm>
          <a:prstGeom prst="rect">
            <a:avLst/>
          </a:prstGeom>
        </p:spPr>
      </p:pic>
      <p:pic>
        <p:nvPicPr>
          <p:cNvPr id="75" name="Image 3" descr="preencoded.png">
            <a:extLst>
              <a:ext uri="{FF2B5EF4-FFF2-40B4-BE49-F238E27FC236}">
                <a16:creationId xmlns:a16="http://schemas.microsoft.com/office/drawing/2014/main" id="{4B28C365-1399-3D84-18EC-567059F9C1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978" y="4262473"/>
            <a:ext cx="395021" cy="395021"/>
          </a:xfrm>
          <a:prstGeom prst="rect">
            <a:avLst/>
          </a:prstGeom>
        </p:spPr>
      </p:pic>
      <p:pic>
        <p:nvPicPr>
          <p:cNvPr id="76" name="Image 4" descr="preencoded.png">
            <a:extLst>
              <a:ext uri="{FF2B5EF4-FFF2-40B4-BE49-F238E27FC236}">
                <a16:creationId xmlns:a16="http://schemas.microsoft.com/office/drawing/2014/main" id="{C9C15BB3-765E-38DD-37DE-9FD2DF0C4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959" y="4325406"/>
            <a:ext cx="312254" cy="312254"/>
          </a:xfrm>
          <a:prstGeom prst="rect">
            <a:avLst/>
          </a:prstGeom>
        </p:spPr>
      </p:pic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E65AEA0D-B2DD-A329-A92F-76BEE7C1A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94" y="4299630"/>
            <a:ext cx="365760" cy="365760"/>
          </a:xfrm>
          <a:prstGeom prst="rect">
            <a:avLst/>
          </a:prstGeom>
        </p:spPr>
      </p:pic>
      <p:sp>
        <p:nvSpPr>
          <p:cNvPr id="78" name="Text 1">
            <a:extLst>
              <a:ext uri="{FF2B5EF4-FFF2-40B4-BE49-F238E27FC236}">
                <a16:creationId xmlns:a16="http://schemas.microsoft.com/office/drawing/2014/main" id="{824CB9BC-3DC6-47AC-2E55-C942E06317FF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SYSTEM OVERVIEW</a:t>
            </a:r>
          </a:p>
        </p:txBody>
      </p:sp>
      <p:sp>
        <p:nvSpPr>
          <p:cNvPr id="79" name="Text 2">
            <a:extLst>
              <a:ext uri="{FF2B5EF4-FFF2-40B4-BE49-F238E27FC236}">
                <a16:creationId xmlns:a16="http://schemas.microsoft.com/office/drawing/2014/main" id="{16631830-B2CF-62F1-33BE-D1AADF881CC2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應用程式架構總覽</a:t>
            </a:r>
          </a:p>
        </p:txBody>
      </p:sp>
    </p:spTree>
    <p:extLst>
      <p:ext uri="{BB962C8B-B14F-4D97-AF65-F5344CB8AC3E}">
        <p14:creationId xmlns:p14="http://schemas.microsoft.com/office/powerpoint/2010/main" val="4125878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2F339F-F225-45A0-5A70-83AD1330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3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3100D73-8A43-7FAB-E9D6-968F9C7B287F}"/>
              </a:ext>
            </a:extLst>
          </p:cNvPr>
          <p:cNvSpPr/>
          <p:nvPr/>
        </p:nvSpPr>
        <p:spPr>
          <a:xfrm>
            <a:off x="3091262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PART 1</a:t>
            </a:r>
            <a:endParaRPr 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AEDE8D0-8C80-ED70-BDA6-3977FB1321BB}"/>
              </a:ext>
            </a:extLst>
          </p:cNvPr>
          <p:cNvSpPr/>
          <p:nvPr/>
        </p:nvSpPr>
        <p:spPr>
          <a:xfrm>
            <a:off x="3091262" y="2926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4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使用者篇</a:t>
            </a: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D188378D-F186-3B1C-94F9-409900306F36}"/>
              </a:ext>
            </a:extLst>
          </p:cNvPr>
          <p:cNvSpPr/>
          <p:nvPr/>
        </p:nvSpPr>
        <p:spPr>
          <a:xfrm>
            <a:off x="3091262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7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日常操作流程與使用說明</a:t>
            </a: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43D961E-1D9A-BFBC-6C5E-0C090229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308" y="27800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6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732D200-C165-B41A-161B-E235AA35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5D5CB9EF-4DE4-5185-ED87-D6131C8D787E}"/>
              </a:ext>
            </a:extLst>
          </p:cNvPr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4654FC22-939C-0BB7-3090-16E096FC0FE0}"/>
              </a:ext>
            </a:extLst>
          </p:cNvPr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271C100C-BDA2-F4B1-327A-1AAA4AAF1588}"/>
              </a:ext>
            </a:extLst>
          </p:cNvPr>
          <p:cNvSpPr/>
          <p:nvPr/>
        </p:nvSpPr>
        <p:spPr>
          <a:xfrm>
            <a:off x="1152144" y="1952389"/>
            <a:ext cx="6071616" cy="63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altLang="zh-TW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至「0-4 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商品資料」新增商品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896A4E68-4FF8-3369-580E-867EBD474863}"/>
              </a:ext>
            </a:extLst>
          </p:cNvPr>
          <p:cNvSpPr/>
          <p:nvPr/>
        </p:nvSpPr>
        <p:spPr>
          <a:xfrm>
            <a:off x="548640" y="2546551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51637137-EE24-3E4A-C995-E2DB7C7E755D}"/>
              </a:ext>
            </a:extLst>
          </p:cNvPr>
          <p:cNvSpPr/>
          <p:nvPr/>
        </p:nvSpPr>
        <p:spPr>
          <a:xfrm>
            <a:off x="548640" y="25465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DDCFD01-9DDF-ACAB-A946-418064DBFB3F}"/>
              </a:ext>
            </a:extLst>
          </p:cNvPr>
          <p:cNvSpPr/>
          <p:nvPr/>
        </p:nvSpPr>
        <p:spPr>
          <a:xfrm>
            <a:off x="1152144" y="2624420"/>
            <a:ext cx="6071616" cy="526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供應商選單子表格務必填入</a:t>
            </a:r>
            <a:r>
              <a:rPr lang="en-US" altLang="zh-TW" sz="1400" b="1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條碼編號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、廠商名稱與廠商定價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A732E5C3-F84F-D7FE-8594-EAF44E52FD4B}"/>
              </a:ext>
            </a:extLst>
          </p:cNvPr>
          <p:cNvSpPr/>
          <p:nvPr/>
        </p:nvSpPr>
        <p:spPr>
          <a:xfrm>
            <a:off x="548640" y="323409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1E2598B5-1D28-C739-6625-160D7E543EC2}"/>
              </a:ext>
            </a:extLst>
          </p:cNvPr>
          <p:cNvSpPr/>
          <p:nvPr/>
        </p:nvSpPr>
        <p:spPr>
          <a:xfrm>
            <a:off x="548640" y="32340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2B802E21-B791-FD94-797D-42E73F9905AC}"/>
              </a:ext>
            </a:extLst>
          </p:cNvPr>
          <p:cNvSpPr/>
          <p:nvPr/>
        </p:nvSpPr>
        <p:spPr>
          <a:xfrm>
            <a:off x="1152144" y="3311959"/>
            <a:ext cx="6071616" cy="526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altLang="zh-TW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至「1-1 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庫存總表」新增該商品的庫存記錄</a:t>
            </a: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選擇倉庫</a:t>
            </a: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並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設定安全庫存量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D6D09E40-22D3-E6BE-0517-994734DE1555}"/>
              </a:ext>
            </a:extLst>
          </p:cNvPr>
          <p:cNvSpPr/>
          <p:nvPr/>
        </p:nvSpPr>
        <p:spPr>
          <a:xfrm>
            <a:off x="556014" y="3924999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96F9E939-49CA-2A1C-D46E-F66DC5FD0CB2}"/>
              </a:ext>
            </a:extLst>
          </p:cNvPr>
          <p:cNvSpPr/>
          <p:nvPr/>
        </p:nvSpPr>
        <p:spPr>
          <a:xfrm>
            <a:off x="548640" y="39255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1669716D-4013-A0C3-9775-CF211B125E4D}"/>
              </a:ext>
            </a:extLst>
          </p:cNvPr>
          <p:cNvSpPr/>
          <p:nvPr/>
        </p:nvSpPr>
        <p:spPr>
          <a:xfrm>
            <a:off x="1152144" y="3988115"/>
            <a:ext cx="607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若同一商品在多個倉庫都有存放，需分別建立各倉庫的庫存紀錄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C426E811-D359-C63E-2566-87D00249FDF0}"/>
              </a:ext>
            </a:extLst>
          </p:cNvPr>
          <p:cNvSpPr/>
          <p:nvPr/>
        </p:nvSpPr>
        <p:spPr>
          <a:xfrm>
            <a:off x="556014" y="47091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EE110DD3-30F0-6264-C67C-B8E3E0FDAE79}"/>
              </a:ext>
            </a:extLst>
          </p:cNvPr>
          <p:cNvSpPr/>
          <p:nvPr/>
        </p:nvSpPr>
        <p:spPr>
          <a:xfrm>
            <a:off x="749808" y="4837176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5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定價小提醒</a:t>
            </a: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2369C4DF-2981-7788-2E99-93314FBFE6B1}"/>
              </a:ext>
            </a:extLst>
          </p:cNvPr>
          <p:cNvSpPr/>
          <p:nvPr/>
        </p:nvSpPr>
        <p:spPr>
          <a:xfrm>
            <a:off x="749808" y="5111496"/>
            <a:ext cx="1069207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填寫 </a:t>
            </a:r>
            <a:r>
              <a:rPr lang="en-US" altLang="ja-JP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2-1 </a:t>
            </a:r>
            <a:r>
              <a:rPr lang="ja-JP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採購進貨單時，商品價格資訊會依「 </a:t>
            </a:r>
            <a:r>
              <a:rPr lang="en-US" altLang="ja-JP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0-2 </a:t>
            </a:r>
            <a:r>
              <a:rPr lang="ja-JP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客戶資料」中的客戶類型，動態代入零售價</a:t>
            </a:r>
            <a:r>
              <a:rPr lang="zh-TW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、</a:t>
            </a:r>
            <a:r>
              <a:rPr lang="ja-JP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批發價</a:t>
            </a:r>
            <a:r>
              <a:rPr lang="zh-TW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、</a:t>
            </a:r>
            <a:r>
              <a:rPr lang="ja-JP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網路價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1B40012-D55C-536D-B376-710EF6336761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PRODUCT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A1ECD1B5-46E2-185B-7A8E-B70721C7DD1D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新增商品</a:t>
            </a:r>
          </a:p>
        </p:txBody>
      </p:sp>
    </p:spTree>
    <p:extLst>
      <p:ext uri="{BB962C8B-B14F-4D97-AF65-F5344CB8AC3E}">
        <p14:creationId xmlns:p14="http://schemas.microsoft.com/office/powerpoint/2010/main" val="3101221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29F7A7D-7FBF-9F88-979A-563F5CB01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8CC1E16-35F7-CC5F-FA86-D53490187573}"/>
              </a:ext>
            </a:extLst>
          </p:cNvPr>
          <p:cNvSpPr/>
          <p:nvPr/>
        </p:nvSpPr>
        <p:spPr>
          <a:xfrm>
            <a:off x="548640" y="1828800"/>
            <a:ext cx="354573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8D41D89-253C-A451-058C-213FC6F5BE77}"/>
              </a:ext>
            </a:extLst>
          </p:cNvPr>
          <p:cNvSpPr/>
          <p:nvPr/>
        </p:nvSpPr>
        <p:spPr>
          <a:xfrm>
            <a:off x="749808" y="2011680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5651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累計入庫量／累計出庫量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2231878-6E83-2541-D234-94A27DC39F1C}"/>
              </a:ext>
            </a:extLst>
          </p:cNvPr>
          <p:cNvSpPr/>
          <p:nvPr/>
        </p:nvSpPr>
        <p:spPr>
          <a:xfrm>
            <a:off x="749808" y="256032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倉庫庫存總帳，含</a:t>
            </a:r>
            <a:r>
              <a:rPr lang="en-US" sz="14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採購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</a:t>
            </a:r>
            <a:r>
              <a:rPr lang="en-US" sz="14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銷貨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</a:t>
            </a:r>
            <a:r>
              <a:rPr lang="en-US" sz="14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調撥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所有來源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AA8978B-6C5A-0877-7129-7A5F7E436AB5}"/>
              </a:ext>
            </a:extLst>
          </p:cNvPr>
          <p:cNvSpPr/>
          <p:nvPr/>
        </p:nvSpPr>
        <p:spPr>
          <a:xfrm>
            <a:off x="4322978" y="1828800"/>
            <a:ext cx="354573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05897B5-5CD2-8BFD-7853-F10E14A62638}"/>
              </a:ext>
            </a:extLst>
          </p:cNvPr>
          <p:cNvSpPr/>
          <p:nvPr/>
        </p:nvSpPr>
        <p:spPr>
          <a:xfrm>
            <a:off x="4524146" y="2011680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5651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預約保留量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02D33CFF-2A47-4820-8750-17B7C3D55D41}"/>
              </a:ext>
            </a:extLst>
          </p:cNvPr>
          <p:cNvSpPr/>
          <p:nvPr/>
        </p:nvSpPr>
        <p:spPr>
          <a:xfrm>
            <a:off x="4524146" y="256032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來自尚未結案的出貨單，或調撥中的貨量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8F23A85A-CEC1-9D71-81F8-BE3DC63AE26F}"/>
              </a:ext>
            </a:extLst>
          </p:cNvPr>
          <p:cNvSpPr/>
          <p:nvPr/>
        </p:nvSpPr>
        <p:spPr>
          <a:xfrm>
            <a:off x="8097317" y="1828800"/>
            <a:ext cx="354573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033E4D6-DFCC-8B71-8778-4A5DEA6C1280}"/>
              </a:ext>
            </a:extLst>
          </p:cNvPr>
          <p:cNvSpPr/>
          <p:nvPr/>
        </p:nvSpPr>
        <p:spPr>
          <a:xfrm>
            <a:off x="8298485" y="2011680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5651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低庫存提醒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2E36903-7C03-D5DC-DB46-8525115B155C}"/>
              </a:ext>
            </a:extLst>
          </p:cNvPr>
          <p:cNvSpPr/>
          <p:nvPr/>
        </p:nvSpPr>
        <p:spPr>
          <a:xfrm>
            <a:off x="8298485" y="256032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低於安全庫存量時自動標示，並建議補貨數量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90C7A8B5-68E3-A145-10E1-05B142A8F89A}"/>
              </a:ext>
            </a:extLst>
          </p:cNvPr>
          <p:cNvSpPr/>
          <p:nvPr/>
        </p:nvSpPr>
        <p:spPr>
          <a:xfrm>
            <a:off x="548640" y="3634002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EBAB01D-1591-4F20-EC37-D4D9B1A7549C}"/>
              </a:ext>
            </a:extLst>
          </p:cNvPr>
          <p:cNvSpPr/>
          <p:nvPr/>
        </p:nvSpPr>
        <p:spPr>
          <a:xfrm>
            <a:off x="749808" y="3739896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區間統計（僅計採購／銷貨，不含調撥）</a:t>
            </a:r>
            <a:endParaRPr lang="en-US" sz="1050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0F3A3FC-91FD-0B34-85FE-F64C4D5B6D26}"/>
              </a:ext>
            </a:extLst>
          </p:cNvPr>
          <p:cNvSpPr/>
          <p:nvPr/>
        </p:nvSpPr>
        <p:spPr>
          <a:xfrm>
            <a:off x="749808" y="4014216"/>
            <a:ext cx="10692079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支援依「本月／本季／本年／累計」查看進貨量、出貨量、淨增量。</a:t>
            </a:r>
            <a:endParaRPr lang="en-US" sz="1300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調撥視為內部倉庫間移動，刻意不計入這組區間統計數字，避免與「累計入</a:t>
            </a:r>
            <a:r>
              <a:rPr lang="zh-TW" altLang="en-US" sz="13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庫量</a:t>
            </a:r>
            <a:r>
              <a:rPr lang="en-US" sz="13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／</a:t>
            </a:r>
            <a:r>
              <a:rPr lang="zh-TW" altLang="en-US" sz="13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累計</a:t>
            </a:r>
            <a:r>
              <a:rPr lang="en-US" sz="13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出庫量」混淆</a:t>
            </a:r>
            <a:r>
              <a:rPr lang="en-US" sz="13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。</a:t>
            </a:r>
            <a:endParaRPr lang="en-US" sz="1300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FED083B-D1A3-7676-3C1B-14072616032E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STOCK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69483DA7-B919-723E-F247-F4DB43C01060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庫存總表</a:t>
            </a:r>
          </a:p>
        </p:txBody>
      </p:sp>
    </p:spTree>
    <p:extLst>
      <p:ext uri="{BB962C8B-B14F-4D97-AF65-F5344CB8AC3E}">
        <p14:creationId xmlns:p14="http://schemas.microsoft.com/office/powerpoint/2010/main" val="184679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D027FF8-A077-E22A-BAF0-22385C4B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79F7AFA-EF3F-9BF4-7311-6940370369AC}"/>
              </a:ext>
            </a:extLst>
          </p:cNvPr>
          <p:cNvSpPr/>
          <p:nvPr/>
        </p:nvSpPr>
        <p:spPr>
          <a:xfrm>
            <a:off x="548640" y="1883664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F98BB71-0E4B-8B0F-CEEF-E8FC854E5CCC}"/>
              </a:ext>
            </a:extLst>
          </p:cNvPr>
          <p:cNvSpPr/>
          <p:nvPr/>
        </p:nvSpPr>
        <p:spPr>
          <a:xfrm>
            <a:off x="54864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3B08C60-E61B-58AC-E714-4D5655316896}"/>
              </a:ext>
            </a:extLst>
          </p:cNvPr>
          <p:cNvSpPr/>
          <p:nvPr/>
        </p:nvSpPr>
        <p:spPr>
          <a:xfrm>
            <a:off x="1152144" y="1948433"/>
            <a:ext cx="103368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選擇廠商後，於採購內容子表格填入商品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支援條碼掃描自動帶入商品名稱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定價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、供應廠商資料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重複掃碼採購數量自動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+1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16D86D54-A81E-15FF-9AC0-950AB255144E}"/>
              </a:ext>
            </a:extLst>
          </p:cNvPr>
          <p:cNvSpPr/>
          <p:nvPr/>
        </p:nvSpPr>
        <p:spPr>
          <a:xfrm>
            <a:off x="548640" y="2511944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16B6064-A2D9-A9AB-9A9A-C251D2E725E1}"/>
              </a:ext>
            </a:extLst>
          </p:cNvPr>
          <p:cNvSpPr/>
          <p:nvPr/>
        </p:nvSpPr>
        <p:spPr>
          <a:xfrm>
            <a:off x="548640" y="2511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521C9C3-4063-9798-711B-8D3227278226}"/>
              </a:ext>
            </a:extLst>
          </p:cNvPr>
          <p:cNvSpPr/>
          <p:nvPr/>
        </p:nvSpPr>
        <p:spPr>
          <a:xfrm>
            <a:off x="1152144" y="2575065"/>
            <a:ext cx="606330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填寫「已入庫數量」，庫存總表的進貨量會同步更新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1BD76E15-C7EE-4F00-954C-934C229A77E2}"/>
              </a:ext>
            </a:extLst>
          </p:cNvPr>
          <p:cNvSpPr/>
          <p:nvPr/>
        </p:nvSpPr>
        <p:spPr>
          <a:xfrm>
            <a:off x="548640" y="3169726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359B7ED-B2C6-3012-ECB4-CE4AD1D58754}"/>
              </a:ext>
            </a:extLst>
          </p:cNvPr>
          <p:cNvSpPr/>
          <p:nvPr/>
        </p:nvSpPr>
        <p:spPr>
          <a:xfrm>
            <a:off x="548640" y="3169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3D0542F-BF6F-E806-9918-73ECE7A42B8A}"/>
              </a:ext>
            </a:extLst>
          </p:cNvPr>
          <p:cNvSpPr/>
          <p:nvPr/>
        </p:nvSpPr>
        <p:spPr>
          <a:xfrm>
            <a:off x="1152144" y="3234495"/>
            <a:ext cx="98814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可從採購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進貨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單點擊動作按鈕快速建立「應付款項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」，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或手動至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「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4-1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應付款項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」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建立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6F4B6855-4527-D85F-24D7-FB2D4F956D56}"/>
              </a:ext>
            </a:extLst>
          </p:cNvPr>
          <p:cNvSpPr/>
          <p:nvPr/>
        </p:nvSpPr>
        <p:spPr>
          <a:xfrm>
            <a:off x="541266" y="3827502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05A77A2B-A8CF-105D-E939-95BB5A48538A}"/>
              </a:ext>
            </a:extLst>
          </p:cNvPr>
          <p:cNvSpPr/>
          <p:nvPr/>
        </p:nvSpPr>
        <p:spPr>
          <a:xfrm>
            <a:off x="541266" y="38275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ADB6AD9A-FA3C-2C8E-4238-D5F7709D7999}"/>
              </a:ext>
            </a:extLst>
          </p:cNvPr>
          <p:cNvSpPr/>
          <p:nvPr/>
        </p:nvSpPr>
        <p:spPr>
          <a:xfrm>
            <a:off x="1152145" y="3779890"/>
            <a:ext cx="9881462" cy="716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應付款項付款狀態設為「已付訖」後，會自動回寫採購單為「已立帳核銷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」，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並帶入核銷日期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，已立帳核銷的進貨單於編輯時會跳出提示，需謹慎確認修改內容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09E9F597-FFB3-CBD9-C13C-8810203E3A08}"/>
              </a:ext>
            </a:extLst>
          </p:cNvPr>
          <p:cNvSpPr/>
          <p:nvPr/>
        </p:nvSpPr>
        <p:spPr>
          <a:xfrm>
            <a:off x="556014" y="47091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2AFD1A0-160F-CB32-A6C3-EDAC15ABA9B5}"/>
              </a:ext>
            </a:extLst>
          </p:cNvPr>
          <p:cNvSpPr/>
          <p:nvPr/>
        </p:nvSpPr>
        <p:spPr>
          <a:xfrm>
            <a:off x="749808" y="4837176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5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核銷日期小提醒</a:t>
            </a: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42121195-A36F-3E46-FAF4-0EA343F3FCC2}"/>
              </a:ext>
            </a:extLst>
          </p:cNvPr>
          <p:cNvSpPr/>
          <p:nvPr/>
        </p:nvSpPr>
        <p:spPr>
          <a:xfrm>
            <a:off x="749808" y="5111496"/>
            <a:ext cx="1069207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付款狀態為「已付訖」後，自動回填採購進貨單為「已立帳核銷」，並依付款方式回填核銷日期（支票回填預兌日期、匯款回填付款日期）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50CC8E32-8AA4-A6E0-2D13-0928E908A1ED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PURCHASE ORDER (PO) 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4ECCE6EC-7688-4004-3590-AD16560DE1F9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採購進貨單</a:t>
            </a:r>
          </a:p>
        </p:txBody>
      </p:sp>
    </p:spTree>
    <p:extLst>
      <p:ext uri="{BB962C8B-B14F-4D97-AF65-F5344CB8AC3E}">
        <p14:creationId xmlns:p14="http://schemas.microsoft.com/office/powerpoint/2010/main" val="433565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0C9D5-6727-A2A7-6145-A880C365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5C84BC8-7B8C-06D0-8BA5-27666AE3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F67FFD-7B2A-473B-35B2-27C068D526E6}"/>
              </a:ext>
            </a:extLst>
          </p:cNvPr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31D698-465F-9005-F6D3-2A77279C8F54}"/>
              </a:ext>
            </a:extLst>
          </p:cNvPr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3222C1-2359-6985-1225-899062172BC3}"/>
              </a:ext>
            </a:extLst>
          </p:cNvPr>
          <p:cNvSpPr/>
          <p:nvPr/>
        </p:nvSpPr>
        <p:spPr>
          <a:xfrm>
            <a:off x="1152144" y="1766560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可從採購單點擊</a:t>
            </a: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動作按鈕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altLang="zh-TW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快速建立「4-1 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應付款項</a:t>
            </a:r>
            <a:r>
              <a:rPr lang="en-US" altLang="zh-TW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」，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將</a:t>
            </a: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自動帶入該採購單的單號與金額資料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；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手動建立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應付單</a:t>
            </a: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時，選擇廠商會自動帶入該廠商所有未結案採購單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E418BB8-F1C5-D3E6-C986-7796E7FEFD53}"/>
              </a:ext>
            </a:extLst>
          </p:cNvPr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2B204-4C81-4627-F174-0F17E58700B0}"/>
              </a:ext>
            </a:extLst>
          </p:cNvPr>
          <p:cNvSpPr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18E7478-9A08-EBAE-14F2-B0FFA6ACDA03}"/>
              </a:ext>
            </a:extLst>
          </p:cNvPr>
          <p:cNvSpPr/>
          <p:nvPr/>
        </p:nvSpPr>
        <p:spPr>
          <a:xfrm>
            <a:off x="1152144" y="2806320"/>
            <a:ext cx="104909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可填寫折讓金額，系統即時提示目前可用折讓餘額，超填則擋存檔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F2D183F-C9B2-233C-446B-2F0DDB7434AF}"/>
              </a:ext>
            </a:extLst>
          </p:cNvPr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FE590C0-87E6-66C7-370A-973A92C829F1}"/>
              </a:ext>
            </a:extLst>
          </p:cNvPr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DF9D9BC-60EB-6C50-22F0-6D2871D82916}"/>
              </a:ext>
            </a:extLst>
          </p:cNvPr>
          <p:cNvSpPr/>
          <p:nvPr/>
        </p:nvSpPr>
        <p:spPr>
          <a:xfrm>
            <a:off x="1152144" y="3720720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付款狀態設為「已付訖」後，自動回寫採購單為「已立帳核銷」並帶入核銷日期，同時更新廠商折讓餘額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3142FCF-18F8-DD9C-7BAA-2B40F3C8EBDD}"/>
              </a:ext>
            </a:extLst>
          </p:cNvPr>
          <p:cNvSpPr/>
          <p:nvPr/>
        </p:nvSpPr>
        <p:spPr>
          <a:xfrm>
            <a:off x="548640" y="47091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F74E72E-1F82-43CE-DE69-BE8C6CCDD6C8}"/>
              </a:ext>
            </a:extLst>
          </p:cNvPr>
          <p:cNvSpPr/>
          <p:nvPr/>
        </p:nvSpPr>
        <p:spPr>
          <a:xfrm>
            <a:off x="749808" y="4837176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已結案提醒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3A4F75C-7694-A51D-2F66-69CF84E91530}"/>
              </a:ext>
            </a:extLst>
          </p:cNvPr>
          <p:cNvSpPr/>
          <p:nvPr/>
        </p:nvSpPr>
        <p:spPr>
          <a:xfrm>
            <a:off x="749808" y="5111496"/>
            <a:ext cx="1069207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已立帳核銷的採購單再次編輯時，會跳出提醒：「此進貨單已結案，修改資料請謹慎確認，儲存後無法自動還原」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796D903A-B869-6D07-2E50-EE0810187C91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ACCOUNTS PAYABLE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06CB41FD-5589-9EED-DA01-ABB8F47BDF29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應付款項</a:t>
            </a:r>
          </a:p>
        </p:txBody>
      </p:sp>
    </p:spTree>
    <p:extLst>
      <p:ext uri="{BB962C8B-B14F-4D97-AF65-F5344CB8AC3E}">
        <p14:creationId xmlns:p14="http://schemas.microsoft.com/office/powerpoint/2010/main" val="571678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E2CB2CE-DBBD-7C29-0537-D17B28D2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7B5BC46-8630-54C7-E8FF-CDBFE27A3F67}"/>
              </a:ext>
            </a:extLst>
          </p:cNvPr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5285FF2-54FE-6DE4-BD31-AE8AD892F5C9}"/>
              </a:ext>
            </a:extLst>
          </p:cNvPr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84844FE-8B4B-CBC8-2CAE-65E221967335}"/>
              </a:ext>
            </a:extLst>
          </p:cNvPr>
          <p:cNvSpPr/>
          <p:nvPr/>
        </p:nvSpPr>
        <p:spPr>
          <a:xfrm>
            <a:off x="1152144" y="1952390"/>
            <a:ext cx="104909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選擇客戶後，商品價格會依客戶類型自動代入（零售價／批發價／網路價）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747ABCA5-549A-22FE-6E3B-80D132BD1E5C}"/>
              </a:ext>
            </a:extLst>
          </p:cNvPr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67738AF-87E4-665B-2072-606D9D5D525F}"/>
              </a:ext>
            </a:extLst>
          </p:cNvPr>
          <p:cNvSpPr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361DDAC-29F5-AB31-996F-D83CCA48A838}"/>
              </a:ext>
            </a:extLst>
          </p:cNvPr>
          <p:cNvSpPr/>
          <p:nvPr/>
        </p:nvSpPr>
        <p:spPr>
          <a:xfrm>
            <a:off x="1152144" y="2912510"/>
            <a:ext cx="104909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於出貨內容子表格選擇商品與出貨倉庫，系統即時顯示目前庫存可用量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77BAF243-FF93-939F-375A-C635C8A29B0F}"/>
              </a:ext>
            </a:extLst>
          </p:cNvPr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1CD08739-C1C4-B62F-2C5F-6A842A4B493F}"/>
              </a:ext>
            </a:extLst>
          </p:cNvPr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83606883-32FE-67B6-603F-79C7CFC9317F}"/>
              </a:ext>
            </a:extLst>
          </p:cNvPr>
          <p:cNvSpPr/>
          <p:nvPr/>
        </p:nvSpPr>
        <p:spPr>
          <a:xfrm>
            <a:off x="1152144" y="3872630"/>
            <a:ext cx="104909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尚未結案的出貨單，數量會計入庫存總表的「預約保留量」；確認結案後才會計入「累計出貨量／出貨量」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92058B2A-0AF7-48DE-8A74-15174FDA2FCB}"/>
              </a:ext>
            </a:extLst>
          </p:cNvPr>
          <p:cNvSpPr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06D283AF-7670-C8FB-0189-14B969268515}"/>
              </a:ext>
            </a:extLst>
          </p:cNvPr>
          <p:cNvSpPr/>
          <p:nvPr/>
        </p:nvSpPr>
        <p:spPr>
          <a:xfrm>
            <a:off x="5486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A2C7429A-84C5-35F5-B53F-00B2F84C5CD1}"/>
              </a:ext>
            </a:extLst>
          </p:cNvPr>
          <p:cNvSpPr/>
          <p:nvPr/>
        </p:nvSpPr>
        <p:spPr>
          <a:xfrm>
            <a:off x="1152144" y="4832750"/>
            <a:ext cx="104909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可單點擊動作按鈕快速建立「應收款項」，或手動至「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4-2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應收款項」建立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585E3AF8-BAB8-6757-6223-79CC8147C286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SHIPPING ORDER (SO)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A36D065-CE95-BAE8-6565-2C26497E7204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銷貨出貨單</a:t>
            </a:r>
          </a:p>
        </p:txBody>
      </p:sp>
    </p:spTree>
    <p:extLst>
      <p:ext uri="{BB962C8B-B14F-4D97-AF65-F5344CB8AC3E}">
        <p14:creationId xmlns:p14="http://schemas.microsoft.com/office/powerpoint/2010/main" val="138251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30943DE-44B9-2FC4-4E1A-1C6D3149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78FB6D5-F3F6-C382-99D7-5DE89FC077C9}"/>
              </a:ext>
            </a:extLst>
          </p:cNvPr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272AD9-11E0-E6CF-5889-FC23A9FFC9D6}"/>
              </a:ext>
            </a:extLst>
          </p:cNvPr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B16170C-0DBB-6D0C-37C3-3695A6682483}"/>
              </a:ext>
            </a:extLst>
          </p:cNvPr>
          <p:cNvSpPr/>
          <p:nvPr/>
        </p:nvSpPr>
        <p:spPr>
          <a:xfrm>
            <a:off x="1152144" y="1891920"/>
            <a:ext cx="104909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動作按鈕可自動帶入該銷貨單的單號與金額資料；手動建立時，選擇客戶名稱可自動帶入所有未結案的出貨單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F2FB041-640A-FE0C-F0FE-1CF80CC0FD00}"/>
              </a:ext>
            </a:extLst>
          </p:cNvPr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7E816C3-BFF2-5039-070E-8D1460DE979A}"/>
              </a:ext>
            </a:extLst>
          </p:cNvPr>
          <p:cNvSpPr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CE0403A-9804-521A-B067-AD49817D959F}"/>
              </a:ext>
            </a:extLst>
          </p:cNvPr>
          <p:cNvSpPr/>
          <p:nvPr/>
        </p:nvSpPr>
        <p:spPr>
          <a:xfrm>
            <a:off x="1152144" y="2806320"/>
            <a:ext cx="104909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收款狀態設為「已全額收訖」後，自動回寫銷貨單為「已立帳核銷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」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，並依收款方式回填核銷日期（支票回填預兌日期、匯款回填收款日期）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BDD4F78-282E-DE0F-861C-72030215E500}"/>
              </a:ext>
            </a:extLst>
          </p:cNvPr>
          <p:cNvSpPr/>
          <p:nvPr/>
        </p:nvSpPr>
        <p:spPr>
          <a:xfrm>
            <a:off x="548640" y="47091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8015304-A2EB-F123-D11D-0CEA32FF95DD}"/>
              </a:ext>
            </a:extLst>
          </p:cNvPr>
          <p:cNvSpPr/>
          <p:nvPr/>
        </p:nvSpPr>
        <p:spPr>
          <a:xfrm>
            <a:off x="749808" y="4837176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已結案提醒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9D6CB6-677E-9E03-0041-CA546AD5720F}"/>
              </a:ext>
            </a:extLst>
          </p:cNvPr>
          <p:cNvSpPr/>
          <p:nvPr/>
        </p:nvSpPr>
        <p:spPr>
          <a:xfrm>
            <a:off x="749808" y="5111496"/>
            <a:ext cx="1069207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已立帳核銷且已結案的出貨單再次編輯時，會跳出提醒：「此出貨單已結案，修改資料請謹慎確認，儲存後無法自動還原」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9BF279BB-47AA-8820-2F79-ADD4094C17CD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ACCOUNTS RECEIVABLE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27C1F3B8-E66E-7FDA-010E-72DD12E4A16B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應收款項</a:t>
            </a:r>
          </a:p>
        </p:txBody>
      </p:sp>
    </p:spTree>
    <p:extLst>
      <p:ext uri="{BB962C8B-B14F-4D97-AF65-F5344CB8AC3E}">
        <p14:creationId xmlns:p14="http://schemas.microsoft.com/office/powerpoint/2010/main" val="2731341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261D927-43CE-5862-6079-BFB17A4F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F1452E7-962E-D3F9-6BA3-1B364B3DCE3F}"/>
              </a:ext>
            </a:extLst>
          </p:cNvPr>
          <p:cNvSpPr/>
          <p:nvPr/>
        </p:nvSpPr>
        <p:spPr>
          <a:xfrm>
            <a:off x="640080" y="1822308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7C6CF98-8564-42F9-82CE-CD81718411D4}"/>
              </a:ext>
            </a:extLst>
          </p:cNvPr>
          <p:cNvSpPr/>
          <p:nvPr/>
        </p:nvSpPr>
        <p:spPr>
          <a:xfrm>
            <a:off x="640080" y="18223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53E6E1C-E15D-25B0-17EA-3FECFC58AE49}"/>
              </a:ext>
            </a:extLst>
          </p:cNvPr>
          <p:cNvSpPr/>
          <p:nvPr/>
        </p:nvSpPr>
        <p:spPr>
          <a:xfrm>
            <a:off x="1188720" y="1645920"/>
            <a:ext cx="981425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調撥借出：狀態為「已發貨／運輸中」時，庫存表會計入預約保留量；調撥完成後更新累計出庫量與累計入庫量</a:t>
            </a: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（</a:t>
            </a: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視為內部移動，</a:t>
            </a:r>
            <a:r>
              <a:rPr lang="en-US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不影響出貨量</a:t>
            </a: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）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835E0D77-0948-68D3-323B-109B6582E5A7}"/>
              </a:ext>
            </a:extLst>
          </p:cNvPr>
          <p:cNvSpPr/>
          <p:nvPr/>
        </p:nvSpPr>
        <p:spPr>
          <a:xfrm>
            <a:off x="640080" y="2562972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8F89944-1F43-0491-BA96-C2582B6CF16F}"/>
              </a:ext>
            </a:extLst>
          </p:cNvPr>
          <p:cNvSpPr/>
          <p:nvPr/>
        </p:nvSpPr>
        <p:spPr>
          <a:xfrm>
            <a:off x="640080" y="25629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F51934C-DAB9-A9CE-DDA1-446594FB73AA}"/>
              </a:ext>
            </a:extLst>
          </p:cNvPr>
          <p:cNvSpPr/>
          <p:nvPr/>
        </p:nvSpPr>
        <p:spPr>
          <a:xfrm>
            <a:off x="1188720" y="2386584"/>
            <a:ext cx="981425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借調歸還：可從下拉式選單選擇未歸還的調撥單號自動帶入資料，支援分批歸還，並提示</a:t>
            </a: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「可用庫存／剩餘需歸還」，同步產生借還紀錄追蹤明細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3D8DA7B0-F85C-4BA3-9F09-C72D3EB28376}"/>
              </a:ext>
            </a:extLst>
          </p:cNvPr>
          <p:cNvSpPr/>
          <p:nvPr/>
        </p:nvSpPr>
        <p:spPr>
          <a:xfrm>
            <a:off x="640080" y="3303636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253E753-F317-F0E4-87DC-12F6C909EFDE}"/>
              </a:ext>
            </a:extLst>
          </p:cNvPr>
          <p:cNvSpPr/>
          <p:nvPr/>
        </p:nvSpPr>
        <p:spPr>
          <a:xfrm>
            <a:off x="640080" y="33036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662B6BA-2148-20CF-5AE3-2D9ADDA45EBC}"/>
              </a:ext>
            </a:extLst>
          </p:cNvPr>
          <p:cNvSpPr/>
          <p:nvPr/>
        </p:nvSpPr>
        <p:spPr>
          <a:xfrm>
            <a:off x="1188720" y="3127248"/>
            <a:ext cx="981425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選擇商品名稱與撥出倉庫後</a:t>
            </a: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即時提示</a:t>
            </a:r>
            <a:r>
              <a:rPr lang="en-US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目前庫存可用量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1F4BF809-DDD5-15DB-B52C-8C2B117BE525}"/>
              </a:ext>
            </a:extLst>
          </p:cNvPr>
          <p:cNvSpPr/>
          <p:nvPr/>
        </p:nvSpPr>
        <p:spPr>
          <a:xfrm>
            <a:off x="640080" y="40443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D751F10A-4513-ACC0-FB31-5BBFE1075147}"/>
              </a:ext>
            </a:extLst>
          </p:cNvPr>
          <p:cNvSpPr/>
          <p:nvPr/>
        </p:nvSpPr>
        <p:spPr>
          <a:xfrm>
            <a:off x="640080" y="40443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F2B67A5B-7F28-60E7-A408-9A4F7EB3E265}"/>
              </a:ext>
            </a:extLst>
          </p:cNvPr>
          <p:cNvSpPr/>
          <p:nvPr/>
        </p:nvSpPr>
        <p:spPr>
          <a:xfrm>
            <a:off x="1188720" y="3867912"/>
            <a:ext cx="981425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若撥出或撥入倉庫沒有該商品的庫存紀錄，會跳出防呆提示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B30F3B4-5349-8790-7CFD-3C1EE6A56375}"/>
              </a:ext>
            </a:extLst>
          </p:cNvPr>
          <p:cNvSpPr/>
          <p:nvPr/>
        </p:nvSpPr>
        <p:spPr>
          <a:xfrm>
            <a:off x="640080" y="4784964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75F18EBD-84AD-DF8B-84DA-58F6CFA6591C}"/>
              </a:ext>
            </a:extLst>
          </p:cNvPr>
          <p:cNvSpPr/>
          <p:nvPr/>
        </p:nvSpPr>
        <p:spPr>
          <a:xfrm>
            <a:off x="640080" y="47849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5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245B2FC8-7451-BFA1-8139-9E6FEC6CFE32}"/>
              </a:ext>
            </a:extLst>
          </p:cNvPr>
          <p:cNvSpPr/>
          <p:nvPr/>
        </p:nvSpPr>
        <p:spPr>
          <a:xfrm>
            <a:off x="1188720" y="4608576"/>
            <a:ext cx="981425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調撥單一旦發貨，除狀態欄位外其餘欄位鎖定，避免誤改</a:t>
            </a: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843688E-5BB2-3653-C5FB-F278DC1E71E6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TRANSFER ORDER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A33DFD54-F086-27F8-B8AB-312D3F1B964D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調撥單</a:t>
            </a:r>
          </a:p>
        </p:txBody>
      </p:sp>
    </p:spTree>
    <p:extLst>
      <p:ext uri="{BB962C8B-B14F-4D97-AF65-F5344CB8AC3E}">
        <p14:creationId xmlns:p14="http://schemas.microsoft.com/office/powerpoint/2010/main" val="572631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C82FEF8-0081-279F-2A3D-CF778863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11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24AD6FB4-95A9-D0BA-7BEC-B2E121CF52A9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783080"/>
          <a:ext cx="10911535" cy="429767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6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訊息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代表意義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採購進貨單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⚠️ 此商品在此倉庫無庫存建檔紀錄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該倉庫尚未建立此商品的庫存總表紀錄，需先建檔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採購進貨單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 </a:t>
                      </a:r>
                      <a:r>
                        <a:rPr lang="en-US" sz="1150" dirty="0" err="1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已入庫＋退貨</a:t>
                      </a:r>
                      <a:r>
                        <a:rPr lang="zh-TW" alt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，，超過採購量！</a:t>
                      </a: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入庫與退貨加總不可超過原採購數量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銷貨出貨單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 庫存不足！剩餘：xxx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出貨數量超過該倉庫目前可用庫存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銷貨出貨單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⛔ </a:t>
                      </a:r>
                      <a:r>
                        <a:rPr lang="zh-TW" alt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存檔失敗：明細中有商品庫存不足或倉庫無庫存。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同一張單多筆明細加總後，仍超過可用庫存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調撥單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 </a:t>
                      </a:r>
                      <a:r>
                        <a:rPr lang="en-US" sz="1150" dirty="0" err="1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撥出</a:t>
                      </a:r>
                      <a:r>
                        <a:rPr lang="zh-TW" alt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倉庫</a:t>
                      </a: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／撥入倉庫無此商品紀錄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對應倉庫尚未建立此商品的庫存紀錄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應付</a:t>
                      </a:r>
                      <a:r>
                        <a:rPr lang="zh-TW" alt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款項</a:t>
                      </a: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／應收款項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 超過可用折讓餘額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本次折讓金額超過廠商目前的折讓餘額上限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657577E8-16AE-F91A-6EBA-D9A3FC2D2AD2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ERROR</a:t>
            </a:r>
            <a:r>
              <a:rPr lang="zh-TW" altLang="en-US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MESSAGE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34086AA-7348-42E3-784B-8A6B09D1B791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常見防呆訊息對照表</a:t>
            </a:r>
          </a:p>
        </p:txBody>
      </p:sp>
    </p:spTree>
    <p:extLst>
      <p:ext uri="{BB962C8B-B14F-4D97-AF65-F5344CB8AC3E}">
        <p14:creationId xmlns:p14="http://schemas.microsoft.com/office/powerpoint/2010/main" val="2992498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C54C7A-CA62-E050-5B92-BFC292FB1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12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84627725-196D-C4DC-7345-DA2E55CF7022}"/>
              </a:ext>
            </a:extLst>
          </p:cNvPr>
          <p:cNvSpPr/>
          <p:nvPr/>
        </p:nvSpPr>
        <p:spPr>
          <a:xfrm>
            <a:off x="5638648" y="19202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E6627F68-5680-DA01-788B-E598AEA84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664" y="2048256"/>
            <a:ext cx="658368" cy="658368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EEFB8CEB-CE52-9F6A-973C-68734F25A6D6}"/>
              </a:ext>
            </a:extLst>
          </p:cNvPr>
          <p:cNvSpPr/>
          <p:nvPr/>
        </p:nvSpPr>
        <p:spPr>
          <a:xfrm>
            <a:off x="0" y="31089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感謝閱讀</a:t>
            </a:r>
            <a:endParaRPr 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8889DFA-2867-2412-6DEE-BD3A2F4C3299}"/>
              </a:ext>
            </a:extLst>
          </p:cNvPr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3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如有設定或操作上的問題，歡迎隨時與威志雲端聯繫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371C71C6-36E1-A4CC-477B-FD7FA28AD6EC}"/>
              </a:ext>
            </a:extLst>
          </p:cNvPr>
          <p:cNvSpPr/>
          <p:nvPr/>
        </p:nvSpPr>
        <p:spPr>
          <a:xfrm>
            <a:off x="5364328" y="45720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63D6FED-FD5E-DFCE-66FF-A1787FA0FAAC}"/>
              </a:ext>
            </a:extLst>
          </p:cNvPr>
          <p:cNvSpPr/>
          <p:nvPr/>
        </p:nvSpPr>
        <p:spPr>
          <a:xfrm>
            <a:off x="5364328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威志雲端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394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649</Words>
  <Application>Microsoft Office PowerPoint</Application>
  <PresentationFormat>寬螢幕</PresentationFormat>
  <Paragraphs>145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微軟正黑體</vt:lpstr>
      <vt:lpstr>Arial</vt:lpstr>
      <vt:lpstr>Calibri</vt:lpstr>
      <vt:lpstr>Courier New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NANA NIU</dc:creator>
  <cp:lastModifiedBy>NANA NIU</cp:lastModifiedBy>
  <cp:revision>8</cp:revision>
  <dcterms:created xsi:type="dcterms:W3CDTF">2026-07-03T08:07:20Z</dcterms:created>
  <dcterms:modified xsi:type="dcterms:W3CDTF">2026-07-16T07:21:37Z</dcterms:modified>
</cp:coreProperties>
</file>