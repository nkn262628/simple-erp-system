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使用說明書" id="{622230AF-4FE5-4987-BD97-1687BF5EE257}">
          <p14:sldIdLst>
            <p14:sldId id="256"/>
            <p14:sldId id="257"/>
            <p14:sldId id="258"/>
          </p14:sldIdLst>
        </p14:section>
        <p14:section name="開發者篇" id="{58E84C16-63AA-4236-B0A5-94F6BDAC74AC}">
          <p14:sldIdLst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使用者篇" id="{0EB06609-05DA-47E9-9416-A598CA83958C}">
          <p14:sldIdLst>
            <p14:sldId id="267"/>
            <p14:sldId id="268"/>
            <p14:sldId id="269"/>
            <p14:sldId id="270"/>
            <p14:sldId id="277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6EC"/>
    <a:srgbClr val="FFC000"/>
    <a:srgbClr val="FFFBEB"/>
    <a:srgbClr val="065A82"/>
    <a:srgbClr val="B5651D"/>
    <a:srgbClr val="CC6600"/>
    <a:srgbClr val="FDE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5" autoAdjust="0"/>
    <p:restoredTop sz="94660"/>
  </p:normalViewPr>
  <p:slideViewPr>
    <p:cSldViewPr snapToGrid="0">
      <p:cViewPr>
        <p:scale>
          <a:sx n="75" d="100"/>
          <a:sy n="75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18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3D89C86-71A8-B587-1CDF-0DD315AEF7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5EE5AE-EE4C-76C6-D301-97326DD6F2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C5D28-F0D0-4594-A27C-571BA3E96410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0BBC5FE-3D59-6D48-0FF5-97A9E79F48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363A83-CE61-16B6-2D65-631A330D14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E63AA-9F6B-469E-B833-BE7B2E5E13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7246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96113-7302-4536-B4C8-A01590DC9D4A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1725F-9264-4466-B053-0C0DD1517C6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17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1725F-9264-4466-B053-0C0DD1517C6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29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6D537-A784-F6DA-1381-145AB6B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DDABD8-CE7D-7E1A-9AB8-11BDC636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A94E-ACA5-2F3C-D499-DB8D8740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1D979AEB-463E-7361-F3FA-462D055255AF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02817CD9-DE39-4964-E386-F7092E4231EA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ECD00AE-1EA0-F85A-AC68-77D42D49DA18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8A90EF5-E55E-3CE6-7EB3-429A9A6378A2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C654E1D-8AC8-B81A-4F39-15A4838437A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82C14D2-0380-2123-BC8F-4BF89E023B30}"/>
              </a:ext>
            </a:extLst>
          </p:cNvPr>
          <p:cNvSpPr/>
          <p:nvPr userDrawn="1"/>
        </p:nvSpPr>
        <p:spPr>
          <a:xfrm>
            <a:off x="914400" y="457200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598484C-D958-744B-AAD1-D7370BB414F2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446C0E3-C395-1BE7-2607-9062466D1363}"/>
              </a:ext>
            </a:extLst>
          </p:cNvPr>
          <p:cNvSpPr/>
          <p:nvPr userDrawn="1"/>
        </p:nvSpPr>
        <p:spPr>
          <a:xfrm>
            <a:off x="798545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14223E60-9E53-DC0A-A72B-04CCB428E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4825" y="5200010"/>
            <a:ext cx="408188" cy="408188"/>
          </a:xfrm>
          <a:prstGeom prst="rect">
            <a:avLst/>
          </a:prstGeom>
          <a:noFill/>
        </p:spPr>
      </p:pic>
      <p:sp>
        <p:nvSpPr>
          <p:cNvPr id="25" name="Shape 10">
            <a:extLst>
              <a:ext uri="{FF2B5EF4-FFF2-40B4-BE49-F238E27FC236}">
                <a16:creationId xmlns:a16="http://schemas.microsoft.com/office/drawing/2014/main" id="{B2E95F54-8ABB-6DCE-CB30-F5AFAEA3C734}"/>
              </a:ext>
            </a:extLst>
          </p:cNvPr>
          <p:cNvSpPr/>
          <p:nvPr userDrawn="1"/>
        </p:nvSpPr>
        <p:spPr>
          <a:xfrm>
            <a:off x="876269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0103C151-E109-6BF2-6DBB-8F46955A1A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2065" y="5200010"/>
            <a:ext cx="408188" cy="408188"/>
          </a:xfrm>
          <a:prstGeom prst="rect">
            <a:avLst/>
          </a:prstGeom>
        </p:spPr>
      </p:pic>
      <p:sp>
        <p:nvSpPr>
          <p:cNvPr id="27" name="Shape 11">
            <a:extLst>
              <a:ext uri="{FF2B5EF4-FFF2-40B4-BE49-F238E27FC236}">
                <a16:creationId xmlns:a16="http://schemas.microsoft.com/office/drawing/2014/main" id="{B81C9957-F68A-39D5-2594-8C641081DF2E}"/>
              </a:ext>
            </a:extLst>
          </p:cNvPr>
          <p:cNvSpPr/>
          <p:nvPr userDrawn="1"/>
        </p:nvSpPr>
        <p:spPr>
          <a:xfrm>
            <a:off x="953993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635CB1F9-56F1-6E7F-2A96-5DE912982C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19305" y="5200010"/>
            <a:ext cx="408188" cy="408188"/>
          </a:xfrm>
          <a:prstGeom prst="rect">
            <a:avLst/>
          </a:prstGeom>
        </p:spPr>
      </p:pic>
      <p:sp>
        <p:nvSpPr>
          <p:cNvPr id="29" name="Shape 12">
            <a:extLst>
              <a:ext uri="{FF2B5EF4-FFF2-40B4-BE49-F238E27FC236}">
                <a16:creationId xmlns:a16="http://schemas.microsoft.com/office/drawing/2014/main" id="{F306B156-2009-AA8E-C559-12305344A0C6}"/>
              </a:ext>
            </a:extLst>
          </p:cNvPr>
          <p:cNvSpPr/>
          <p:nvPr userDrawn="1"/>
        </p:nvSpPr>
        <p:spPr>
          <a:xfrm>
            <a:off x="1031717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BBA4EB60-8867-F0A9-0B90-A56C6F0D5D5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396545" y="5200010"/>
            <a:ext cx="408188" cy="408188"/>
          </a:xfrm>
          <a:prstGeom prst="rect">
            <a:avLst/>
          </a:prstGeom>
        </p:spPr>
      </p:pic>
      <p:sp>
        <p:nvSpPr>
          <p:cNvPr id="31" name="Shape 13">
            <a:extLst>
              <a:ext uri="{FF2B5EF4-FFF2-40B4-BE49-F238E27FC236}">
                <a16:creationId xmlns:a16="http://schemas.microsoft.com/office/drawing/2014/main" id="{C1A6C0BD-ED12-01DB-3362-DC74C30CB9B0}"/>
              </a:ext>
            </a:extLst>
          </p:cNvPr>
          <p:cNvSpPr/>
          <p:nvPr userDrawn="1"/>
        </p:nvSpPr>
        <p:spPr>
          <a:xfrm>
            <a:off x="11094415" y="5120640"/>
            <a:ext cx="566928" cy="566928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308BC347-D775-22A8-09D4-A1A17FB6C4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3785" y="5200010"/>
            <a:ext cx="408188" cy="4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2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投影片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6D537-A784-F6DA-1381-145AB6B5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DDABD8-CE7D-7E1A-9AB8-11BDC636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85A94E-ACA5-2F3C-D499-DB8D8740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1D979AEB-463E-7361-F3FA-462D055255AF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02817CD9-DE39-4964-E386-F7092E4231EA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ECD00AE-1EA0-F85A-AC68-77D42D49DA18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8A90EF5-E55E-3CE6-7EB3-429A9A6378A2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C654E1D-8AC8-B81A-4F39-15A4838437A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598484C-D958-744B-AAD1-D7370BB414F2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5B541B4-951B-CC0D-4951-FEF6EDC3A450}"/>
              </a:ext>
            </a:extLst>
          </p:cNvPr>
          <p:cNvSpPr/>
          <p:nvPr userDrawn="1"/>
        </p:nvSpPr>
        <p:spPr>
          <a:xfrm>
            <a:off x="1234440" y="2560320"/>
            <a:ext cx="1371600" cy="1371600"/>
          </a:xfrm>
          <a:prstGeom prst="ellipse">
            <a:avLst/>
          </a:prstGeom>
          <a:gradFill flip="none" rotWithShape="1">
            <a:gsLst>
              <a:gs pos="0">
                <a:srgbClr val="1C7293">
                  <a:shade val="30000"/>
                  <a:satMod val="115000"/>
                </a:srgbClr>
              </a:gs>
              <a:gs pos="50000">
                <a:srgbClr val="1C7293">
                  <a:shade val="67500"/>
                  <a:satMod val="115000"/>
                </a:srgbClr>
              </a:gs>
              <a:gs pos="100000">
                <a:srgbClr val="1C7293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45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系統說明書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828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系統說明書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19BBA340-2EE4-3BA6-C11D-225093ADFA14}"/>
              </a:ext>
            </a:extLst>
          </p:cNvPr>
          <p:cNvSpPr/>
          <p:nvPr userDrawn="1"/>
        </p:nvSpPr>
        <p:spPr>
          <a:xfrm>
            <a:off x="10554484" y="554736"/>
            <a:ext cx="997131" cy="320040"/>
          </a:xfrm>
          <a:prstGeom prst="roundRect">
            <a:avLst>
              <a:gd name="adj" fmla="val 27379"/>
            </a:avLst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開發者篇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114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AFDB56A-FBA2-D8EB-B13F-06C880C54B7B}"/>
              </a:ext>
            </a:extLst>
          </p:cNvPr>
          <p:cNvSpPr/>
          <p:nvPr userDrawn="1"/>
        </p:nvSpPr>
        <p:spPr>
          <a:xfrm>
            <a:off x="14173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3FCA43-1246-80D0-324E-89E0518C5209}"/>
              </a:ext>
            </a:extLst>
          </p:cNvPr>
          <p:cNvSpPr/>
          <p:nvPr userDrawn="1"/>
        </p:nvSpPr>
        <p:spPr>
          <a:xfrm>
            <a:off x="1417320" y="7863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DD23F13-449C-5CFC-A014-BE5FA696C5CE}"/>
              </a:ext>
            </a:extLst>
          </p:cNvPr>
          <p:cNvSpPr/>
          <p:nvPr userDrawn="1"/>
        </p:nvSpPr>
        <p:spPr>
          <a:xfrm>
            <a:off x="640080" y="1536192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A4FB9ECC-1C95-6CBE-8AC2-66E33FF1B2EF}"/>
              </a:ext>
            </a:extLst>
          </p:cNvPr>
          <p:cNvSpPr/>
          <p:nvPr userDrawn="1"/>
        </p:nvSpPr>
        <p:spPr>
          <a:xfrm>
            <a:off x="412955" y="6401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威志雲端｜簡易 </a:t>
            </a:r>
            <a:r>
              <a:rPr lang="en-US" altLang="zh-TW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</a:t>
            </a:r>
            <a:r>
              <a:rPr lang="zh-TW" altLang="en-US" sz="10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系統說明書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F236C17E-12FB-26D3-E491-E0538997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4BFB2381-8184-45B5-ADDF-E81116BDA999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31A73E0B-9D8C-9014-5CA4-8F218DC5227A}"/>
              </a:ext>
            </a:extLst>
          </p:cNvPr>
          <p:cNvSpPr/>
          <p:nvPr userDrawn="1"/>
        </p:nvSpPr>
        <p:spPr>
          <a:xfrm>
            <a:off x="10554484" y="554736"/>
            <a:ext cx="997131" cy="320040"/>
          </a:xfrm>
          <a:prstGeom prst="roundRect">
            <a:avLst>
              <a:gd name="adj" fmla="val 27379"/>
            </a:avLst>
          </a:prstGeom>
          <a:solidFill>
            <a:srgbClr val="FFC000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使用者篇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10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版面配置區 3">
            <a:extLst>
              <a:ext uri="{FF2B5EF4-FFF2-40B4-BE49-F238E27FC236}">
                <a16:creationId xmlns:a16="http://schemas.microsoft.com/office/drawing/2014/main" id="{4547B7B8-A2AD-9946-D893-5F458A71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6" name="頁尾版面配置區 4">
            <a:extLst>
              <a:ext uri="{FF2B5EF4-FFF2-40B4-BE49-F238E27FC236}">
                <a16:creationId xmlns:a16="http://schemas.microsoft.com/office/drawing/2014/main" id="{C2F032DE-2486-2459-A4DE-DAAD2225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BCE9CD70-B781-8BE7-E26E-6CB3E20D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64CDEFAD-3581-7CBB-1DF5-55E0647C6B26}"/>
              </a:ext>
            </a:extLst>
          </p:cNvPr>
          <p:cNvSpPr/>
          <p:nvPr userDrawn="1"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5CBCFAB6-3ED7-992A-0D4E-896AE9C5169F}"/>
              </a:ext>
            </a:extLst>
          </p:cNvPr>
          <p:cNvSpPr/>
          <p:nvPr userDrawn="1"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85A7E507-2360-5D4D-0396-93FF434153C0}"/>
              </a:ext>
            </a:extLst>
          </p:cNvPr>
          <p:cNvSpPr/>
          <p:nvPr userDrawn="1"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9CC61B25-A5A4-9984-66FF-DF18927166E0}"/>
              </a:ext>
            </a:extLst>
          </p:cNvPr>
          <p:cNvSpPr/>
          <p:nvPr userDrawn="1"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B6E09626-D60F-A471-08A2-F8B210613E62}"/>
              </a:ext>
            </a:extLst>
          </p:cNvPr>
          <p:cNvSpPr/>
          <p:nvPr userDrawn="1"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D220572B-EB2A-930A-F8FE-8AFB243B5FE5}"/>
              </a:ext>
            </a:extLst>
          </p:cNvPr>
          <p:cNvSpPr/>
          <p:nvPr userDrawn="1"/>
        </p:nvSpPr>
        <p:spPr>
          <a:xfrm>
            <a:off x="838200" y="596772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0DEF6004-0482-55D6-EC95-EED1A8E7D1F1}"/>
              </a:ext>
            </a:extLst>
          </p:cNvPr>
          <p:cNvSpPr/>
          <p:nvPr userDrawn="1"/>
        </p:nvSpPr>
        <p:spPr>
          <a:xfrm>
            <a:off x="456473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A0F58C09-86AE-D8EF-09F4-5063735D7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6386" y="5556249"/>
            <a:ext cx="249814" cy="249814"/>
          </a:xfrm>
          <a:prstGeom prst="rect">
            <a:avLst/>
          </a:prstGeom>
          <a:noFill/>
        </p:spPr>
      </p:pic>
      <p:sp>
        <p:nvSpPr>
          <p:cNvPr id="38" name="Shape 10">
            <a:extLst>
              <a:ext uri="{FF2B5EF4-FFF2-40B4-BE49-F238E27FC236}">
                <a16:creationId xmlns:a16="http://schemas.microsoft.com/office/drawing/2014/main" id="{BD5292F5-C03D-6C8B-93E4-353F32C5C1F3}"/>
              </a:ext>
            </a:extLst>
          </p:cNvPr>
          <p:cNvSpPr/>
          <p:nvPr userDrawn="1"/>
        </p:nvSpPr>
        <p:spPr>
          <a:xfrm>
            <a:off x="521497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  <p:txBody>
          <a:bodyPr/>
          <a:lstStyle/>
          <a:p>
            <a:endParaRPr lang="zh-TW" altLang="en-US" dirty="0"/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F8762BD0-522D-E77D-A949-27CEA35162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6626" y="5556249"/>
            <a:ext cx="249814" cy="249814"/>
          </a:xfrm>
          <a:prstGeom prst="rect">
            <a:avLst/>
          </a:prstGeom>
        </p:spPr>
      </p:pic>
      <p:sp>
        <p:nvSpPr>
          <p:cNvPr id="40" name="Shape 11">
            <a:extLst>
              <a:ext uri="{FF2B5EF4-FFF2-40B4-BE49-F238E27FC236}">
                <a16:creationId xmlns:a16="http://schemas.microsoft.com/office/drawing/2014/main" id="{A61E17C2-00BB-8955-6496-C2E20AE29BF7}"/>
              </a:ext>
            </a:extLst>
          </p:cNvPr>
          <p:cNvSpPr/>
          <p:nvPr userDrawn="1"/>
        </p:nvSpPr>
        <p:spPr>
          <a:xfrm>
            <a:off x="586521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74F67410-1BDC-9D9A-621C-571F46159C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6866" y="5556249"/>
            <a:ext cx="249814" cy="249814"/>
          </a:xfrm>
          <a:prstGeom prst="rect">
            <a:avLst/>
          </a:prstGeom>
        </p:spPr>
      </p:pic>
      <p:sp>
        <p:nvSpPr>
          <p:cNvPr id="42" name="Shape 12">
            <a:extLst>
              <a:ext uri="{FF2B5EF4-FFF2-40B4-BE49-F238E27FC236}">
                <a16:creationId xmlns:a16="http://schemas.microsoft.com/office/drawing/2014/main" id="{C6E0FB02-E1D9-CB8B-2744-762E3E613EE2}"/>
              </a:ext>
            </a:extLst>
          </p:cNvPr>
          <p:cNvSpPr/>
          <p:nvPr userDrawn="1"/>
        </p:nvSpPr>
        <p:spPr>
          <a:xfrm>
            <a:off x="651545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DA947427-63E7-CA8D-9294-622632B8E5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97106" y="5556249"/>
            <a:ext cx="249814" cy="249814"/>
          </a:xfrm>
          <a:prstGeom prst="rect">
            <a:avLst/>
          </a:prstGeom>
        </p:spPr>
      </p:pic>
      <p:sp>
        <p:nvSpPr>
          <p:cNvPr id="44" name="Shape 13">
            <a:extLst>
              <a:ext uri="{FF2B5EF4-FFF2-40B4-BE49-F238E27FC236}">
                <a16:creationId xmlns:a16="http://schemas.microsoft.com/office/drawing/2014/main" id="{71BA7FB5-DF12-7664-ABE6-FD9A2415BC15}"/>
              </a:ext>
            </a:extLst>
          </p:cNvPr>
          <p:cNvSpPr/>
          <p:nvPr userDrawn="1"/>
        </p:nvSpPr>
        <p:spPr>
          <a:xfrm>
            <a:off x="7229190" y="5472577"/>
            <a:ext cx="423539" cy="423539"/>
          </a:xfrm>
          <a:prstGeom prst="ellipse">
            <a:avLst/>
          </a:prstGeom>
          <a:solidFill>
            <a:srgbClr val="D6E6EC"/>
          </a:solidFill>
          <a:ln/>
        </p:spPr>
      </p:sp>
      <p:pic>
        <p:nvPicPr>
          <p:cNvPr id="45" name="Image 4" descr="preencoded.png">
            <a:extLst>
              <a:ext uri="{FF2B5EF4-FFF2-40B4-BE49-F238E27FC236}">
                <a16:creationId xmlns:a16="http://schemas.microsoft.com/office/drawing/2014/main" id="{6C30F520-8983-F009-D4DA-AC28A6ED403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310846" y="5556249"/>
            <a:ext cx="249814" cy="2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679D5A-A137-E0E5-C232-5F2582BC9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46CA57-B6C5-C526-5999-C39331C4C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28A933-06B3-635D-3DBC-A86567567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B2381-8184-45B5-ADDF-E81116BDA9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2" r:id="rId4"/>
    <p:sldLayoutId id="2147483651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3">
            <a:extLst>
              <a:ext uri="{FF2B5EF4-FFF2-40B4-BE49-F238E27FC236}">
                <a16:creationId xmlns:a16="http://schemas.microsoft.com/office/drawing/2014/main" id="{4E375BC0-04A2-AB55-AA9A-94E84E61C23A}"/>
              </a:ext>
            </a:extLst>
          </p:cNvPr>
          <p:cNvSpPr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 err="1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威志雲端</a:t>
            </a:r>
            <a:r>
              <a:rPr 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　KINTONE</a:t>
            </a:r>
            <a:r>
              <a:rPr lang="zh-TW" alt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14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SYSTEM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CA3D194-2790-7F5D-6661-DE88052F4A99}"/>
              </a:ext>
            </a:extLst>
          </p:cNvPr>
          <p:cNvSpPr/>
          <p:nvPr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簡易ERP系統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DFFF531-BA73-2F07-787D-49E108FB8CB1}"/>
              </a:ext>
            </a:extLst>
          </p:cNvPr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使用說明書 </a:t>
            </a:r>
            <a:r>
              <a:rPr lang="en-US" altLang="zh-TW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·</a:t>
            </a:r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開發者建置手冊</a:t>
            </a:r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·</a:t>
            </a:r>
            <a:r>
              <a:rPr lang="zh-TW" alt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2000" dirty="0" err="1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客戶操作指南</a:t>
            </a:r>
            <a:r>
              <a:rPr lang="en-US" altLang="zh-TW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　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9CBE13B9-BE9C-299F-3B78-89C70561AF4B}"/>
              </a:ext>
            </a:extLst>
          </p:cNvPr>
          <p:cNvSpPr/>
          <p:nvPr/>
        </p:nvSpPr>
        <p:spPr>
          <a:xfrm>
            <a:off x="9144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1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2026.07</a:t>
            </a:r>
            <a:r>
              <a:rPr lang="zh-TW" altLang="en-US" sz="1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　第一版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F3225BBD-4AEE-C53A-7A77-33F57E6A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3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F040D0-4EB5-B336-511C-CB1EF9AF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8477" y="6355715"/>
            <a:ext cx="2743200" cy="365125"/>
          </a:xfrm>
        </p:spPr>
        <p:txBody>
          <a:bodyPr/>
          <a:lstStyle/>
          <a:p>
            <a:fld id="{4BFB2381-8184-45B5-ADDF-E81116BDA999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E2554BF-C634-A9A4-AC2D-D30DCB42A41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AGENDA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FAF55F7-C405-607C-123A-4542DDF41A04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說明書</a:t>
            </a:r>
            <a:r>
              <a:rPr lang="en-US" sz="28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架構</a:t>
            </a:r>
            <a:endParaRPr 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28A795D-1FA1-F69E-A507-12A990CD554D}"/>
              </a:ext>
            </a:extLst>
          </p:cNvPr>
          <p:cNvSpPr/>
          <p:nvPr/>
        </p:nvSpPr>
        <p:spPr>
          <a:xfrm>
            <a:off x="792328" y="19202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7B29F19-66CC-4154-EB10-02F81DCA905B}"/>
              </a:ext>
            </a:extLst>
          </p:cNvPr>
          <p:cNvSpPr/>
          <p:nvPr/>
        </p:nvSpPr>
        <p:spPr>
          <a:xfrm>
            <a:off x="1295248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28985AC-8778-77B3-27B6-8E8A342CBC1F}"/>
              </a:ext>
            </a:extLst>
          </p:cNvPr>
          <p:cNvSpPr/>
          <p:nvPr/>
        </p:nvSpPr>
        <p:spPr>
          <a:xfrm>
            <a:off x="2301088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PART 1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F32023D-C14A-564B-8669-E459D96153A8}"/>
              </a:ext>
            </a:extLst>
          </p:cNvPr>
          <p:cNvSpPr/>
          <p:nvPr/>
        </p:nvSpPr>
        <p:spPr>
          <a:xfrm>
            <a:off x="2301088" y="25786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開發者</a:t>
            </a:r>
            <a:r>
              <a:rPr lang="zh-TW" altLang="en-US" sz="24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篇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CBFBF44-CF10-C262-1299-23F238DC8FD0}"/>
              </a:ext>
            </a:extLst>
          </p:cNvPr>
          <p:cNvSpPr/>
          <p:nvPr/>
        </p:nvSpPr>
        <p:spPr>
          <a:xfrm>
            <a:off x="1249528" y="3703320"/>
            <a:ext cx="4160520" cy="1156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8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外掛安裝與參數設定（自動編號、條碼掃描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各應用程式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JS 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客製化邏輯與跨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參照設定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換環境部署前的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ID／欄位代碼檢查清單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4396550-B54A-94D1-D465-087A31F17D12}"/>
              </a:ext>
            </a:extLst>
          </p:cNvPr>
          <p:cNvSpPr/>
          <p:nvPr/>
        </p:nvSpPr>
        <p:spPr>
          <a:xfrm>
            <a:off x="6324448" y="192024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84FB11BA-EE34-2A40-9926-A93268A2F914}"/>
              </a:ext>
            </a:extLst>
          </p:cNvPr>
          <p:cNvSpPr/>
          <p:nvPr/>
        </p:nvSpPr>
        <p:spPr>
          <a:xfrm>
            <a:off x="6827368" y="2286000"/>
            <a:ext cx="822960" cy="822960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AEB92B8-99DE-26EB-DF87-0FA70810D003}"/>
              </a:ext>
            </a:extLst>
          </p:cNvPr>
          <p:cNvSpPr/>
          <p:nvPr/>
        </p:nvSpPr>
        <p:spPr>
          <a:xfrm>
            <a:off x="7833208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PART 2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48060176-5F05-ACC5-AAED-5F637B1647FD}"/>
              </a:ext>
            </a:extLst>
          </p:cNvPr>
          <p:cNvSpPr/>
          <p:nvPr/>
        </p:nvSpPr>
        <p:spPr>
          <a:xfrm>
            <a:off x="7833208" y="25786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使用者篇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8A1CB7A2-B95D-DE75-75C4-52697AE55117}"/>
              </a:ext>
            </a:extLst>
          </p:cNvPr>
          <p:cNvSpPr/>
          <p:nvPr/>
        </p:nvSpPr>
        <p:spPr>
          <a:xfrm>
            <a:off x="6781648" y="3703320"/>
            <a:ext cx="4160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8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l"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系統操作流程說明</a:t>
            </a:r>
            <a:endParaRPr lang="en-US" altLang="zh-TW" sz="14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跨模組防呆提醒訊息與常見錯誤對照表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039942A1-0122-74EB-04D4-6E994079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14" y="2466373"/>
            <a:ext cx="493776" cy="493776"/>
          </a:xfrm>
          <a:prstGeom prst="rect">
            <a:avLst/>
          </a:prstGeom>
        </p:spPr>
      </p:pic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20DAEE47-BF41-D3A5-F5E3-9394E39AA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730" y="2465340"/>
            <a:ext cx="493776" cy="493776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22E43885-B695-B47D-D900-0D57D78C269D}"/>
              </a:ext>
            </a:extLst>
          </p:cNvPr>
          <p:cNvSpPr/>
          <p:nvPr/>
        </p:nvSpPr>
        <p:spPr>
          <a:xfrm>
            <a:off x="1020928" y="52826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</a:t>
            </a:r>
            <a:r>
              <a:rPr lang="zh-TW" alt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開發人員</a:t>
            </a: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</a:t>
            </a:r>
            <a:r>
              <a:rPr lang="zh-TW" alt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系統管理</a:t>
            </a:r>
            <a:r>
              <a:rPr lang="en-US" sz="115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員閱讀</a:t>
            </a:r>
            <a:endParaRPr lang="en-US" sz="115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83321768-543C-1E68-DF00-7F9C17C350AD}"/>
              </a:ext>
            </a:extLst>
          </p:cNvPr>
          <p:cNvSpPr/>
          <p:nvPr/>
        </p:nvSpPr>
        <p:spPr>
          <a:xfrm>
            <a:off x="6507632" y="527682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適合實際使用系統的同仁閱讀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34883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8A8BF50-D956-E47F-D805-EAE848D1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35F322F-5889-5EE3-4E7F-34C1BC2538C2}"/>
              </a:ext>
            </a:extLst>
          </p:cNvPr>
          <p:cNvSpPr/>
          <p:nvPr/>
        </p:nvSpPr>
        <p:spPr>
          <a:xfrm>
            <a:off x="640080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40230F8-4375-32AB-99B3-F8CB0CD48BAE}"/>
              </a:ext>
            </a:extLst>
          </p:cNvPr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1BB5971-4855-7823-CF9F-B3D1020FC947}"/>
              </a:ext>
            </a:extLst>
          </p:cNvPr>
          <p:cNvSpPr/>
          <p:nvPr/>
        </p:nvSpPr>
        <p:spPr>
          <a:xfrm>
            <a:off x="1508760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9ADC037-4A6A-3FE6-0AF9-09BA03D14A32}"/>
              </a:ext>
            </a:extLst>
          </p:cNvPr>
          <p:cNvSpPr/>
          <p:nvPr/>
        </p:nvSpPr>
        <p:spPr>
          <a:xfrm>
            <a:off x="1508760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主檔資料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A2EB634-0C49-9B98-6216-58FDC09910F8}"/>
              </a:ext>
            </a:extLst>
          </p:cNvPr>
          <p:cNvSpPr/>
          <p:nvPr/>
        </p:nvSpPr>
        <p:spPr>
          <a:xfrm>
            <a:off x="960120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0-1 </a:t>
            </a:r>
            <a:r>
              <a:rPr lang="en-US" sz="1150" dirty="0" err="1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公司倉庫資料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0-2 客戶資料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0-3 廠商資料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0-4 商品資料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97A3F842-E5C9-008F-1E7F-73C8E355FB06}"/>
              </a:ext>
            </a:extLst>
          </p:cNvPr>
          <p:cNvSpPr/>
          <p:nvPr/>
        </p:nvSpPr>
        <p:spPr>
          <a:xfrm>
            <a:off x="4383938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38DE4A8-50EB-3967-B90F-51C099EEBA17}"/>
              </a:ext>
            </a:extLst>
          </p:cNvPr>
          <p:cNvSpPr/>
          <p:nvPr/>
        </p:nvSpPr>
        <p:spPr>
          <a:xfrm>
            <a:off x="4612538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8ADA4C9-002F-D384-36AA-714EA497C732}"/>
              </a:ext>
            </a:extLst>
          </p:cNvPr>
          <p:cNvSpPr/>
          <p:nvPr/>
        </p:nvSpPr>
        <p:spPr>
          <a:xfrm>
            <a:off x="5252618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5BDBD2E-AFE0-AD73-848B-25B3959F87A5}"/>
              </a:ext>
            </a:extLst>
          </p:cNvPr>
          <p:cNvSpPr/>
          <p:nvPr/>
        </p:nvSpPr>
        <p:spPr>
          <a:xfrm>
            <a:off x="5252618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庫存管理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B464430-3D62-52D7-622B-24BF6EC67A8D}"/>
              </a:ext>
            </a:extLst>
          </p:cNvPr>
          <p:cNvSpPr/>
          <p:nvPr/>
        </p:nvSpPr>
        <p:spPr>
          <a:xfrm>
            <a:off x="4703978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1-1 庫存總表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B3B26AF-B3E9-DE27-F55A-F24072B59140}"/>
              </a:ext>
            </a:extLst>
          </p:cNvPr>
          <p:cNvSpPr/>
          <p:nvPr/>
        </p:nvSpPr>
        <p:spPr>
          <a:xfrm>
            <a:off x="8127797" y="182880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9985536-E107-151D-EA3C-C24E205D6D19}"/>
              </a:ext>
            </a:extLst>
          </p:cNvPr>
          <p:cNvSpPr/>
          <p:nvPr/>
        </p:nvSpPr>
        <p:spPr>
          <a:xfrm>
            <a:off x="8356397" y="201168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3A3B6825-F0A1-B260-8751-74477C2C6D01}"/>
              </a:ext>
            </a:extLst>
          </p:cNvPr>
          <p:cNvSpPr/>
          <p:nvPr/>
        </p:nvSpPr>
        <p:spPr>
          <a:xfrm>
            <a:off x="8996477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F0072D79-817A-1FFD-3B70-14C770D643E9}"/>
              </a:ext>
            </a:extLst>
          </p:cNvPr>
          <p:cNvSpPr/>
          <p:nvPr/>
        </p:nvSpPr>
        <p:spPr>
          <a:xfrm>
            <a:off x="8996477" y="221284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採購作業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66361380-DE07-C85A-A3AB-E71A46DA6007}"/>
              </a:ext>
            </a:extLst>
          </p:cNvPr>
          <p:cNvSpPr/>
          <p:nvPr/>
        </p:nvSpPr>
        <p:spPr>
          <a:xfrm>
            <a:off x="8447837" y="270249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2-1 採購進貨單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516C6815-2544-BEE8-56D2-0493EF29D740}"/>
              </a:ext>
            </a:extLst>
          </p:cNvPr>
          <p:cNvSpPr/>
          <p:nvPr/>
        </p:nvSpPr>
        <p:spPr>
          <a:xfrm>
            <a:off x="640080" y="402336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D21BED4F-BC08-70BE-13CA-CCDC33334301}"/>
              </a:ext>
            </a:extLst>
          </p:cNvPr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D15BA11D-E0D3-EBC9-666D-37F4C3CD2E98}"/>
              </a:ext>
            </a:extLst>
          </p:cNvPr>
          <p:cNvSpPr/>
          <p:nvPr/>
        </p:nvSpPr>
        <p:spPr>
          <a:xfrm>
            <a:off x="150876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019D174-BD90-1914-2AD8-557DA9C5F0E9}"/>
              </a:ext>
            </a:extLst>
          </p:cNvPr>
          <p:cNvSpPr/>
          <p:nvPr/>
        </p:nvSpPr>
        <p:spPr>
          <a:xfrm>
            <a:off x="1508760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銷貨作業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3E144A5-1F2E-F20D-AEB5-C068FB0029F4}"/>
              </a:ext>
            </a:extLst>
          </p:cNvPr>
          <p:cNvSpPr/>
          <p:nvPr/>
        </p:nvSpPr>
        <p:spPr>
          <a:xfrm>
            <a:off x="960120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3-1 銷貨出貨單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E9E8B06-B0D8-B1D9-97CF-0A6EC3EE07B5}"/>
              </a:ext>
            </a:extLst>
          </p:cNvPr>
          <p:cNvSpPr/>
          <p:nvPr/>
        </p:nvSpPr>
        <p:spPr>
          <a:xfrm>
            <a:off x="4383938" y="4023360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F5F00DF0-5B27-5D23-3ABB-EA0422FCB8C6}"/>
              </a:ext>
            </a:extLst>
          </p:cNvPr>
          <p:cNvSpPr/>
          <p:nvPr/>
        </p:nvSpPr>
        <p:spPr>
          <a:xfrm>
            <a:off x="4612538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855BFAD8-9F4B-E799-FE1D-505F4CDB2511}"/>
              </a:ext>
            </a:extLst>
          </p:cNvPr>
          <p:cNvSpPr/>
          <p:nvPr/>
        </p:nvSpPr>
        <p:spPr>
          <a:xfrm>
            <a:off x="5252618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56190691-D9BF-DE92-D27B-E3862F72468B}"/>
              </a:ext>
            </a:extLst>
          </p:cNvPr>
          <p:cNvSpPr/>
          <p:nvPr/>
        </p:nvSpPr>
        <p:spPr>
          <a:xfrm>
            <a:off x="5252618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金流管理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394C494F-90EE-A403-073F-C9A007E9B084}"/>
              </a:ext>
            </a:extLst>
          </p:cNvPr>
          <p:cNvSpPr/>
          <p:nvPr/>
        </p:nvSpPr>
        <p:spPr>
          <a:xfrm>
            <a:off x="4703978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4-1 應付款項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4-2 應收款項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A3C6E9DC-248C-F4AA-8AB1-FB0DAE08B4E5}"/>
              </a:ext>
            </a:extLst>
          </p:cNvPr>
          <p:cNvSpPr/>
          <p:nvPr/>
        </p:nvSpPr>
        <p:spPr>
          <a:xfrm>
            <a:off x="8127797" y="3964368"/>
            <a:ext cx="3423818" cy="1874520"/>
          </a:xfrm>
          <a:prstGeom prst="roundRect">
            <a:avLst>
              <a:gd name="adj" fmla="val 48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C9C806FC-C7D7-E574-3C3B-6D1A49B92CE6}"/>
              </a:ext>
            </a:extLst>
          </p:cNvPr>
          <p:cNvSpPr/>
          <p:nvPr/>
        </p:nvSpPr>
        <p:spPr>
          <a:xfrm>
            <a:off x="8356397" y="420624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55E928-6AED-A936-2060-567333444F82}"/>
              </a:ext>
            </a:extLst>
          </p:cNvPr>
          <p:cNvSpPr/>
          <p:nvPr/>
        </p:nvSpPr>
        <p:spPr>
          <a:xfrm>
            <a:off x="8996477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5-X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65328563-44AA-CD6D-4C79-EA66A523A355}"/>
              </a:ext>
            </a:extLst>
          </p:cNvPr>
          <p:cNvSpPr/>
          <p:nvPr/>
        </p:nvSpPr>
        <p:spPr>
          <a:xfrm>
            <a:off x="8996477" y="4407408"/>
            <a:ext cx="24179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調撥作業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0732BAE0-187D-556B-8E0E-C4B67354F88B}"/>
              </a:ext>
            </a:extLst>
          </p:cNvPr>
          <p:cNvSpPr/>
          <p:nvPr/>
        </p:nvSpPr>
        <p:spPr>
          <a:xfrm>
            <a:off x="8447837" y="4897056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5-1 調撥單</a:t>
            </a:r>
            <a:endParaRPr lang="en-US" sz="11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B9D53509-6A9C-9831-0390-2B3340CC7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65" y="2154445"/>
            <a:ext cx="293967" cy="293967"/>
          </a:xfrm>
          <a:prstGeom prst="rect">
            <a:avLst/>
          </a:prstGeom>
        </p:spPr>
      </p:pic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3C22ECA6-1B64-0F49-0B05-60EC69DB3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69" y="2091911"/>
            <a:ext cx="365761" cy="365761"/>
          </a:xfrm>
          <a:prstGeom prst="rect">
            <a:avLst/>
          </a:prstGeom>
        </p:spPr>
      </p:pic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A9254F6F-17F3-9C74-094A-B0182009E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575" y="2097810"/>
            <a:ext cx="365760" cy="365760"/>
          </a:xfrm>
          <a:prstGeom prst="rect">
            <a:avLst/>
          </a:prstGeom>
        </p:spPr>
      </p:pic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3B62B609-3397-4952-EEA8-FB52F0C10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262473"/>
            <a:ext cx="395021" cy="395021"/>
          </a:xfrm>
          <a:prstGeom prst="rect">
            <a:avLst/>
          </a:prstGeom>
        </p:spPr>
      </p:pic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49664F26-F18C-328B-AB37-A4308755E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59" y="4325406"/>
            <a:ext cx="312254" cy="312254"/>
          </a:xfrm>
          <a:prstGeom prst="rect">
            <a:avLst/>
          </a:prstGeom>
        </p:spPr>
      </p:pic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36ED3D49-37F2-4301-28B5-C4139C797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94" y="429963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F87AC90-2BBC-CDEC-D5E5-A509157EF596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SYSTEM OVERVIEW</a:t>
            </a:r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667B91CD-19DE-8241-A80D-7239784B122B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應用程式架構總覽</a:t>
            </a:r>
          </a:p>
        </p:txBody>
      </p:sp>
    </p:spTree>
    <p:extLst>
      <p:ext uri="{BB962C8B-B14F-4D97-AF65-F5344CB8AC3E}">
        <p14:creationId xmlns:p14="http://schemas.microsoft.com/office/powerpoint/2010/main" val="412587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A1B1-7BB1-19EA-DC58-759A1949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AAFD441B-DC11-B80C-81A8-3078C8A240D1}"/>
              </a:ext>
            </a:extLst>
          </p:cNvPr>
          <p:cNvSpPr/>
          <p:nvPr/>
        </p:nvSpPr>
        <p:spPr>
          <a:xfrm>
            <a:off x="3091262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PART 1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D12F228-F410-3B1A-CB1E-1CFD81BD34DE}"/>
              </a:ext>
            </a:extLst>
          </p:cNvPr>
          <p:cNvSpPr/>
          <p:nvPr/>
        </p:nvSpPr>
        <p:spPr>
          <a:xfrm>
            <a:off x="3091262" y="2926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開發者</a:t>
            </a:r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篇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77B81C9-7922-0B2F-1650-35F8751E63DF}"/>
              </a:ext>
            </a:extLst>
          </p:cNvPr>
          <p:cNvSpPr/>
          <p:nvPr/>
        </p:nvSpPr>
        <p:spPr>
          <a:xfrm>
            <a:off x="3091262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7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系統建置、外掛設定、各應用程式 </a:t>
            </a:r>
            <a:r>
              <a:rPr lang="en-US" altLang="zh-TW" sz="17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JS </a:t>
            </a:r>
            <a:r>
              <a:rPr lang="zh-TW" altLang="en-US" sz="17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客製化參數</a:t>
            </a:r>
            <a:endParaRPr lang="en-US" sz="1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64436DD-4846-704D-1FC4-1C2129D46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05" y="2809863"/>
            <a:ext cx="939177" cy="93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A49260F-A87E-46F0-E6FC-DABFCD1C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2840CA3B-384F-2BF4-FA44-268551AD4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4823"/>
              </p:ext>
            </p:extLst>
          </p:nvPr>
        </p:nvGraphicFramePr>
        <p:xfrm>
          <a:off x="548640" y="1828800"/>
          <a:ext cx="10911535" cy="2011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外掛名稱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外掛功能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套用應用程式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40"/>
                          </a:solidFill>
                        </a:rPr>
                        <a:t>ERP 自動編號外掛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為 ERP 各應用程式提供含日期的自動編號功能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除「庫存總表」以外的所有應用程式皆須設定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40"/>
                          </a:solidFill>
                        </a:rPr>
                        <a:t>ERP 進出貨條碼掃描外掛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條碼掃描自動帶入商品資料，支援採購、出貨、調撥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採購進貨單、銷貨出貨單、調撥單</a:t>
                      </a:r>
                      <a:endParaRPr lang="en-US" sz="1200" dirty="0"/>
                    </a:p>
                  </a:txBody>
                  <a:tcPr marL="152400" marR="152400" marT="127000" marB="1270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3">
            <a:extLst>
              <a:ext uri="{FF2B5EF4-FFF2-40B4-BE49-F238E27FC236}">
                <a16:creationId xmlns:a16="http://schemas.microsoft.com/office/drawing/2014/main" id="{4B3207F1-D573-5186-A067-4ED5955E08C8}"/>
              </a:ext>
            </a:extLst>
          </p:cNvPr>
          <p:cNvSpPr/>
          <p:nvPr/>
        </p:nvSpPr>
        <p:spPr>
          <a:xfrm>
            <a:off x="548640" y="4160520"/>
            <a:ext cx="538718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F5E739A-5CAE-247B-515D-96C83F262F9D}"/>
              </a:ext>
            </a:extLst>
          </p:cNvPr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6A0D39C2-A40D-4CEC-2313-3853B4283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480560"/>
            <a:ext cx="329184" cy="329184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701D8AA3-7AB0-EB68-6734-006DF43915FC}"/>
              </a:ext>
            </a:extLst>
          </p:cNvPr>
          <p:cNvSpPr/>
          <p:nvPr/>
        </p:nvSpPr>
        <p:spPr>
          <a:xfrm>
            <a:off x="1463040" y="4453128"/>
            <a:ext cx="428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ERP 自動編號外掛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290F0EC-9B63-BD6E-B6C4-45A5FCC37B54}"/>
              </a:ext>
            </a:extLst>
          </p:cNvPr>
          <p:cNvSpPr/>
          <p:nvPr/>
        </p:nvSpPr>
        <p:spPr>
          <a:xfrm>
            <a:off x="822960" y="502920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8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提供含</a:t>
            </a: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英文字母、</a:t>
            </a: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日期前綴的自動編號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編號欄位自動</a:t>
            </a: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設為唯獨</a:t>
            </a:r>
            <a:r>
              <a:rPr 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防止手動</a:t>
            </a: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編輯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3DA99D03-5E80-FC1C-AFDA-16D335738D22}"/>
              </a:ext>
            </a:extLst>
          </p:cNvPr>
          <p:cNvSpPr/>
          <p:nvPr/>
        </p:nvSpPr>
        <p:spPr>
          <a:xfrm>
            <a:off x="6255868" y="4160520"/>
            <a:ext cx="538718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B7D4A9C-C3D3-4816-AAD1-817D57295AB6}"/>
              </a:ext>
            </a:extLst>
          </p:cNvPr>
          <p:cNvSpPr/>
          <p:nvPr/>
        </p:nvSpPr>
        <p:spPr>
          <a:xfrm>
            <a:off x="6530188" y="44165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17E2DCAD-F8AF-82E0-F4E0-0F7D2D906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196" y="4480560"/>
            <a:ext cx="329184" cy="329184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7031CB70-11DB-0626-A20F-34E39BC60A91}"/>
              </a:ext>
            </a:extLst>
          </p:cNvPr>
          <p:cNvSpPr/>
          <p:nvPr/>
        </p:nvSpPr>
        <p:spPr>
          <a:xfrm>
            <a:off x="7170268" y="4453128"/>
            <a:ext cx="428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ERP 進出貨條碼掃描外掛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C690F620-074A-9A14-366B-E7D8EC6CE169}"/>
              </a:ext>
            </a:extLst>
          </p:cNvPr>
          <p:cNvSpPr/>
          <p:nvPr/>
        </p:nvSpPr>
        <p:spPr>
          <a:xfrm>
            <a:off x="6530188" y="502920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8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掃碼自動帶入商品</a:t>
            </a: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與供應商資料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內建廠商防呆，避免條碼歸屬錯誤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E4BEE8-6452-3197-CB27-2D0CFCF11C88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PLUGIN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9EEB442-1286-572A-CC02-51C84452D32D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外掛設定</a:t>
            </a:r>
          </a:p>
        </p:txBody>
      </p:sp>
    </p:spTree>
    <p:extLst>
      <p:ext uri="{BB962C8B-B14F-4D97-AF65-F5344CB8AC3E}">
        <p14:creationId xmlns:p14="http://schemas.microsoft.com/office/powerpoint/2010/main" val="759834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DADF819-6A03-43ED-2C4B-4A6CC7C2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6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F83E3D0-6778-D569-D6C1-6BCACD58B940}"/>
              </a:ext>
            </a:extLst>
          </p:cNvPr>
          <p:cNvSpPr/>
          <p:nvPr/>
        </p:nvSpPr>
        <p:spPr>
          <a:xfrm>
            <a:off x="548640" y="18745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8538A9B-C330-2A41-1E40-B5BE83BD0FC6}"/>
              </a:ext>
            </a:extLst>
          </p:cNvPr>
          <p:cNvSpPr/>
          <p:nvPr/>
        </p:nvSpPr>
        <p:spPr>
          <a:xfrm>
            <a:off x="777240" y="20208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編號欄位唯讀保護</a:t>
            </a:r>
            <a:endParaRPr lang="en-US" sz="13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4D70054-6B54-0360-6D3C-963C647BAE3B}"/>
              </a:ext>
            </a:extLst>
          </p:cNvPr>
          <p:cNvSpPr/>
          <p:nvPr/>
        </p:nvSpPr>
        <p:spPr>
          <a:xfrm>
            <a:off x="777240" y="23317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編號欄位將自動設為唯讀，防止手動編輯</a:t>
            </a:r>
            <a:endParaRPr lang="en-US" sz="12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4B757EF-67FD-3745-C5B6-0B7B1C4673E8}"/>
              </a:ext>
            </a:extLst>
          </p:cNvPr>
          <p:cNvSpPr/>
          <p:nvPr/>
        </p:nvSpPr>
        <p:spPr>
          <a:xfrm>
            <a:off x="6255868" y="18745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3C78EFF-432D-87D0-6A52-D7C666165E0B}"/>
              </a:ext>
            </a:extLst>
          </p:cNvPr>
          <p:cNvSpPr/>
          <p:nvPr/>
        </p:nvSpPr>
        <p:spPr>
          <a:xfrm>
            <a:off x="6484468" y="20208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複製記錄防呆</a:t>
            </a:r>
            <a:endParaRPr lang="en-US" sz="13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419B2D9-DA22-7893-26B2-50EA62AA7205}"/>
              </a:ext>
            </a:extLst>
          </p:cNvPr>
          <p:cNvSpPr/>
          <p:nvPr/>
        </p:nvSpPr>
        <p:spPr>
          <a:xfrm>
            <a:off x="6484468" y="23317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複製記錄後，儲存時會自動產生全新編號，不會沿用原編號</a:t>
            </a:r>
            <a:endParaRPr lang="en-US" sz="125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B02FA58-24FE-D46C-D69D-62DD9DED43E1}"/>
              </a:ext>
            </a:extLst>
          </p:cNvPr>
          <p:cNvSpPr/>
          <p:nvPr/>
        </p:nvSpPr>
        <p:spPr>
          <a:xfrm>
            <a:off x="548640" y="32461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CD01B1F-1C22-8955-7A30-A899AA471F62}"/>
              </a:ext>
            </a:extLst>
          </p:cNvPr>
          <p:cNvSpPr/>
          <p:nvPr/>
        </p:nvSpPr>
        <p:spPr>
          <a:xfrm>
            <a:off x="777240" y="33924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編號欄位代碼</a:t>
            </a:r>
            <a:endParaRPr lang="en-US" sz="13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C59D0F3-0DBF-6C4D-A800-E0C61E59824D}"/>
              </a:ext>
            </a:extLst>
          </p:cNvPr>
          <p:cNvSpPr/>
          <p:nvPr/>
        </p:nvSpPr>
        <p:spPr>
          <a:xfrm>
            <a:off x="777240" y="37033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填入要使用外掛自動編號的欄位代碼</a:t>
            </a:r>
            <a:endParaRPr lang="en-US" sz="125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C2FF96F2-C6BD-1E54-B772-8088881AB101}"/>
              </a:ext>
            </a:extLst>
          </p:cNvPr>
          <p:cNvSpPr/>
          <p:nvPr/>
        </p:nvSpPr>
        <p:spPr>
          <a:xfrm>
            <a:off x="6255868" y="32461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D4F04B1-A60F-CD7D-E3D8-46E6F0F9027F}"/>
              </a:ext>
            </a:extLst>
          </p:cNvPr>
          <p:cNvSpPr/>
          <p:nvPr/>
        </p:nvSpPr>
        <p:spPr>
          <a:xfrm>
            <a:off x="6484468" y="33924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前綴代碼</a:t>
            </a:r>
            <a:endParaRPr lang="en-US" sz="135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0FF22D5C-377A-19EB-1288-D3E746692BD3}"/>
              </a:ext>
            </a:extLst>
          </p:cNvPr>
          <p:cNvSpPr/>
          <p:nvPr/>
        </p:nvSpPr>
        <p:spPr>
          <a:xfrm>
            <a:off x="6484468" y="37033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可點選快速套用預設，也可自訂</a:t>
            </a:r>
            <a:r>
              <a:rPr lang="zh-TW" alt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英文字母前綴代碼</a:t>
            </a:r>
            <a:endParaRPr lang="en-US" sz="125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295A148-BB4F-71CD-2A49-3B2CA5948E1C}"/>
              </a:ext>
            </a:extLst>
          </p:cNvPr>
          <p:cNvSpPr/>
          <p:nvPr/>
        </p:nvSpPr>
        <p:spPr>
          <a:xfrm>
            <a:off x="548640" y="46177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B494BFB-88E7-88D1-0B13-4F69688EDD0B}"/>
              </a:ext>
            </a:extLst>
          </p:cNvPr>
          <p:cNvSpPr/>
          <p:nvPr/>
        </p:nvSpPr>
        <p:spPr>
          <a:xfrm>
            <a:off x="777240" y="47640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</a:t>
            </a:r>
            <a:r>
              <a:rPr lang="en-US" sz="13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流水號重置規則</a:t>
            </a:r>
            <a:endParaRPr lang="en-US" sz="135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118373CC-7713-B329-D679-089713123251}"/>
              </a:ext>
            </a:extLst>
          </p:cNvPr>
          <p:cNvSpPr/>
          <p:nvPr/>
        </p:nvSpPr>
        <p:spPr>
          <a:xfrm>
            <a:off x="777240" y="50749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主檔資料選擇「永不重置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」、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單據資料選擇「每日重置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25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3A496FBF-A63C-9094-EB3A-B53FF2FB3531}"/>
              </a:ext>
            </a:extLst>
          </p:cNvPr>
          <p:cNvSpPr/>
          <p:nvPr/>
        </p:nvSpPr>
        <p:spPr>
          <a:xfrm>
            <a:off x="6255868" y="4617720"/>
            <a:ext cx="5387188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D3C2094-AEB2-7B1C-B091-FDF93300E998}"/>
              </a:ext>
            </a:extLst>
          </p:cNvPr>
          <p:cNvSpPr/>
          <p:nvPr/>
        </p:nvSpPr>
        <p:spPr>
          <a:xfrm>
            <a:off x="6484468" y="4764024"/>
            <a:ext cx="4929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依條件</a:t>
            </a:r>
            <a:r>
              <a:rPr lang="zh-TW" alt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分段</a:t>
            </a:r>
            <a:r>
              <a:rPr lang="en-US" sz="13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編號</a:t>
            </a:r>
            <a:endParaRPr lang="en-US" sz="135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A52D3248-45FE-6EAA-C3FA-3D955231A70E}"/>
              </a:ext>
            </a:extLst>
          </p:cNvPr>
          <p:cNvSpPr/>
          <p:nvPr/>
        </p:nvSpPr>
        <p:spPr>
          <a:xfrm>
            <a:off x="6484468" y="5074920"/>
            <a:ext cx="492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支援同一應用程式中，不同類別套用不同前綴代碼</a:t>
            </a:r>
            <a:r>
              <a:rPr lang="zh-TW" alt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，在「條件前綴對應表」設定</a:t>
            </a:r>
            <a:endParaRPr lang="en-US" sz="125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CCBE6541-AD77-8ED1-33D3-6B23C9C342A7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AUTO NUMBERING PLUGIN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DA7D3BB4-8505-EEBE-107C-6485F8B47928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ERP </a:t>
            </a:r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自動編號外掛</a:t>
            </a:r>
          </a:p>
        </p:txBody>
      </p:sp>
    </p:spTree>
    <p:extLst>
      <p:ext uri="{BB962C8B-B14F-4D97-AF65-F5344CB8AC3E}">
        <p14:creationId xmlns:p14="http://schemas.microsoft.com/office/powerpoint/2010/main" val="101944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C04140D-8C69-0159-381C-F5228994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2BC30F3-4EE2-DCF5-CD4C-8E24C624B2F5}"/>
              </a:ext>
            </a:extLst>
          </p:cNvPr>
          <p:cNvSpPr/>
          <p:nvPr/>
        </p:nvSpPr>
        <p:spPr>
          <a:xfrm>
            <a:off x="548640" y="1860804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8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l"/>
            </a:pP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支援進貨單模式、出貨單模式、調撥單模式，</a:t>
            </a:r>
            <a:r>
              <a:rPr lang="en-US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選擇模式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後</a:t>
            </a:r>
            <a:r>
              <a:rPr 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頁面會自動顯示對應欄位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並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</a:t>
            </a:r>
            <a:r>
              <a:rPr lang="en-US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帶入預設值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5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需設定「關聯 App </a:t>
            </a:r>
            <a:r>
              <a:rPr lang="zh-TW" altLang="en-US" sz="15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設定</a:t>
            </a:r>
            <a:r>
              <a:rPr lang="en-US" sz="15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</a:t>
            </a:r>
            <a:endParaRPr 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l"/>
            </a:pPr>
            <a:r>
              <a:rPr 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需設定「掃描按鈕空間元素 ID」（預設為 </a:t>
            </a:r>
            <a:r>
              <a:rPr lang="en-US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scan_space</a:t>
            </a:r>
            <a:r>
              <a:rPr 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，如果沒有變更表單，就不用調整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18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l"/>
            </a:pP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功能皆</a:t>
            </a:r>
            <a:r>
              <a:rPr lang="en-US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預設為啟用狀態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，非必要不要關閉（</a:t>
            </a:r>
            <a:r>
              <a:rPr lang="en-US" altLang="zh-TW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庫存同步功能</a:t>
            </a:r>
            <a:r>
              <a:rPr lang="en-US" altLang="zh-TW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altLang="zh-TW" sz="15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自動帶入廠商資料</a:t>
            </a:r>
            <a:r>
              <a:rPr lang="zh-TW" altLang="en-US" sz="15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、廠商防呆）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F289DE7-9CEF-D261-DE3F-52D5966C61CA}"/>
              </a:ext>
            </a:extLst>
          </p:cNvPr>
          <p:cNvSpPr/>
          <p:nvPr/>
        </p:nvSpPr>
        <p:spPr>
          <a:xfrm>
            <a:off x="548640" y="4695444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5875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F2238F1-10A0-36BE-125C-99D06D99A5C7}"/>
              </a:ext>
            </a:extLst>
          </p:cNvPr>
          <p:cNvSpPr/>
          <p:nvPr/>
        </p:nvSpPr>
        <p:spPr>
          <a:xfrm>
            <a:off x="749807" y="4823460"/>
            <a:ext cx="6086069" cy="1186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zh-TW" altLang="en-US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註</a:t>
            </a:r>
            <a:r>
              <a:rPr lang="en-US" altLang="zh-TW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r>
              <a:rPr lang="zh-TW" altLang="en-US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：庫存同步功能：採購進貨單、銷貨出貨單、調撥單會與庫存總表聯動，庫存量異動時，會實時呈現</a:t>
            </a:r>
            <a:endParaRPr lang="en-US" altLang="zh-TW" sz="1200" b="1" dirty="0">
              <a:solidFill>
                <a:srgbClr val="D97706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zh-TW" altLang="en-US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註</a:t>
            </a:r>
            <a:r>
              <a:rPr lang="en-US" altLang="zh-TW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r>
              <a:rPr lang="zh-TW" altLang="en-US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：</a:t>
            </a:r>
            <a:r>
              <a:rPr lang="en-US" sz="1200" b="1" dirty="0" err="1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廠商防呆</a:t>
            </a:r>
            <a:r>
              <a:rPr lang="zh-TW" altLang="en-US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功能：</a:t>
            </a:r>
            <a:r>
              <a:rPr lang="en-US" altLang="zh-TW" sz="1200" b="1" dirty="0" err="1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條碼歸屬廠商與目前單據廠商不符時，會顯示提醒且無法帶入資料：目前的廠商為「AAA</a:t>
            </a:r>
            <a:r>
              <a:rPr lang="en-US" altLang="zh-TW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」，</a:t>
            </a:r>
            <a:r>
              <a:rPr lang="en-US" altLang="zh-TW" sz="1200" b="1" dirty="0" err="1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但此條碼屬於「BBB</a:t>
            </a:r>
            <a:r>
              <a:rPr lang="en-US" altLang="zh-TW" sz="120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」。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FC0057F-B75F-7CD0-2437-5B0907468D51}"/>
              </a:ext>
            </a:extLst>
          </p:cNvPr>
          <p:cNvSpPr/>
          <p:nvPr/>
        </p:nvSpPr>
        <p:spPr>
          <a:xfrm>
            <a:off x="749808" y="5097780"/>
            <a:ext cx="5998464" cy="550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5EFC2D4-49B1-4B5F-D411-4AAB58F03ED1}"/>
              </a:ext>
            </a:extLst>
          </p:cNvPr>
          <p:cNvSpPr/>
          <p:nvPr/>
        </p:nvSpPr>
        <p:spPr>
          <a:xfrm>
            <a:off x="7315200" y="1860804"/>
            <a:ext cx="4327855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E27EE3AB-DEE5-2E9E-1001-6905076BD7A7}"/>
              </a:ext>
            </a:extLst>
          </p:cNvPr>
          <p:cNvSpPr/>
          <p:nvPr/>
        </p:nvSpPr>
        <p:spPr>
          <a:xfrm>
            <a:off x="7589520" y="210312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具體使用</a:t>
            </a:r>
            <a:r>
              <a:rPr lang="en-US" sz="1400" b="1" dirty="0" err="1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流程</a:t>
            </a:r>
            <a:r>
              <a:rPr lang="zh-TW" altLang="en-US" sz="14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參考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A50B4C2-876F-7A33-D495-911F017BC440}"/>
              </a:ext>
            </a:extLst>
          </p:cNvPr>
          <p:cNvSpPr/>
          <p:nvPr/>
        </p:nvSpPr>
        <p:spPr>
          <a:xfrm>
            <a:off x="7589520" y="2651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6A07404-684A-E678-D9E3-0544B95C73E2}"/>
              </a:ext>
            </a:extLst>
          </p:cNvPr>
          <p:cNvSpPr/>
          <p:nvPr/>
        </p:nvSpPr>
        <p:spPr>
          <a:xfrm>
            <a:off x="75895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3D9F2EC-EB7C-37FD-9C28-67AEB39DB7ED}"/>
              </a:ext>
            </a:extLst>
          </p:cNvPr>
          <p:cNvSpPr/>
          <p:nvPr/>
        </p:nvSpPr>
        <p:spPr>
          <a:xfrm>
            <a:off x="8193024" y="2718570"/>
            <a:ext cx="3175711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完成外掛設定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16BB624-3674-8ED6-6DBF-70A4A1E6F230}"/>
              </a:ext>
            </a:extLst>
          </p:cNvPr>
          <p:cNvSpPr/>
          <p:nvPr/>
        </p:nvSpPr>
        <p:spPr>
          <a:xfrm>
            <a:off x="7589520" y="34930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240C2CF3-4497-92CC-E579-7E422DA257B3}"/>
              </a:ext>
            </a:extLst>
          </p:cNvPr>
          <p:cNvSpPr/>
          <p:nvPr/>
        </p:nvSpPr>
        <p:spPr>
          <a:xfrm>
            <a:off x="75895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0349F52-7EC6-55FD-7A39-1A9CB7213FAA}"/>
              </a:ext>
            </a:extLst>
          </p:cNvPr>
          <p:cNvSpPr/>
          <p:nvPr/>
        </p:nvSpPr>
        <p:spPr>
          <a:xfrm>
            <a:off x="8193024" y="3449207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掃描商品條碼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（支援鏡頭掃描、圖片上傳、手動輸入）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36A5E788-EB63-418F-7C91-F9995DA661F7}"/>
              </a:ext>
            </a:extLst>
          </p:cNvPr>
          <p:cNvSpPr/>
          <p:nvPr/>
        </p:nvSpPr>
        <p:spPr>
          <a:xfrm>
            <a:off x="7589520" y="4334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BDE9BD3-4533-AEF0-94B1-8E38B4D2E08F}"/>
              </a:ext>
            </a:extLst>
          </p:cNvPr>
          <p:cNvSpPr/>
          <p:nvPr/>
        </p:nvSpPr>
        <p:spPr>
          <a:xfrm>
            <a:off x="758952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6E5FD4BC-4AE1-2D28-C63E-0342229C9338}"/>
              </a:ext>
            </a:extLst>
          </p:cNvPr>
          <p:cNvSpPr/>
          <p:nvPr/>
        </p:nvSpPr>
        <p:spPr>
          <a:xfrm>
            <a:off x="8193024" y="4401066"/>
            <a:ext cx="31757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自動帶入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資料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44D2EAA9-9E0B-1ADE-E123-873FB52FAD54}"/>
              </a:ext>
            </a:extLst>
          </p:cNvPr>
          <p:cNvSpPr/>
          <p:nvPr/>
        </p:nvSpPr>
        <p:spPr>
          <a:xfrm>
            <a:off x="7589520" y="51755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4DFEEF4-8679-2BB6-1B72-E7783886A2DF}"/>
              </a:ext>
            </a:extLst>
          </p:cNvPr>
          <p:cNvSpPr/>
          <p:nvPr/>
        </p:nvSpPr>
        <p:spPr>
          <a:xfrm>
            <a:off x="758952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B0F119B2-77A9-5C93-961D-A128244FFBF5}"/>
              </a:ext>
            </a:extLst>
          </p:cNvPr>
          <p:cNvSpPr/>
          <p:nvPr/>
        </p:nvSpPr>
        <p:spPr>
          <a:xfrm>
            <a:off x="8193024" y="5131703"/>
            <a:ext cx="31757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進貨單會比對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廠商防呆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；出貨單會根據客戶公司類型寫入價格資料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B4E7D7D-5D7C-89DC-D6B5-0238368F1640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ERP BARCODE SCANNER PLUGIN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B5A8030-C1FC-F391-DCF9-E027D784AC6B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ERP </a:t>
            </a:r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進出貨條碼掃描外掛</a:t>
            </a:r>
          </a:p>
        </p:txBody>
      </p:sp>
    </p:spTree>
    <p:extLst>
      <p:ext uri="{BB962C8B-B14F-4D97-AF65-F5344CB8AC3E}">
        <p14:creationId xmlns:p14="http://schemas.microsoft.com/office/powerpoint/2010/main" val="260780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2E301-3DF6-45A9-2B02-2C5313D5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A85C05-83F9-E753-B3D0-3D442129A21C}"/>
              </a:ext>
            </a:extLst>
          </p:cNvPr>
          <p:cNvSpPr/>
          <p:nvPr/>
        </p:nvSpPr>
        <p:spPr>
          <a:xfrm>
            <a:off x="548640" y="17099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換環境部署前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請注意要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重新確認跨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參照的 App ID 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與欄位代碼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471E2F-36BD-045C-7295-E992A7DBE124}"/>
              </a:ext>
            </a:extLst>
          </p:cNvPr>
          <p:cNvSpPr/>
          <p:nvPr/>
        </p:nvSpPr>
        <p:spPr>
          <a:xfrm>
            <a:off x="548640" y="2194556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07717BA-6525-1633-7B0A-A22F3B66D329}"/>
              </a:ext>
            </a:extLst>
          </p:cNvPr>
          <p:cNvSpPr/>
          <p:nvPr/>
        </p:nvSpPr>
        <p:spPr>
          <a:xfrm>
            <a:off x="777240" y="2480372"/>
            <a:ext cx="2032634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28A7579-4138-9F79-D2C7-DD46B2A56212}"/>
              </a:ext>
            </a:extLst>
          </p:cNvPr>
          <p:cNvSpPr/>
          <p:nvPr/>
        </p:nvSpPr>
        <p:spPr>
          <a:xfrm>
            <a:off x="3489807" y="2285992"/>
            <a:ext cx="6915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inventory_index.js ／ inventory_detail.js</a:t>
            </a:r>
            <a:r>
              <a:rPr lang="zh-TW" alt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及對應</a:t>
            </a:r>
            <a:r>
              <a:rPr lang="en-US" altLang="zh-TW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CSS </a:t>
            </a:r>
            <a:r>
              <a:rPr lang="zh-TW" alt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共</a:t>
            </a:r>
            <a:r>
              <a:rPr lang="en-US" altLang="zh-TW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4</a:t>
            </a:r>
            <a:r>
              <a:rPr lang="zh-TW" alt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支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F061961-AE81-3652-5769-19C361CA00E5}"/>
              </a:ext>
            </a:extLst>
          </p:cNvPr>
          <p:cNvSpPr/>
          <p:nvPr/>
        </p:nvSpPr>
        <p:spPr>
          <a:xfrm>
            <a:off x="3489807" y="2615176"/>
            <a:ext cx="69151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清單視圖 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ID、跨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參照 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ID（採購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進貨單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／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銷貨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出貨單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／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單</a:t>
            </a: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5B219DB-4362-BD64-D732-2667EA114ACF}"/>
              </a:ext>
            </a:extLst>
          </p:cNvPr>
          <p:cNvSpPr/>
          <p:nvPr/>
        </p:nvSpPr>
        <p:spPr>
          <a:xfrm>
            <a:off x="777241" y="2480372"/>
            <a:ext cx="20326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1-1 庫存總表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9BF64EB9-7AC2-A9BD-EC99-94C0ECD83152}"/>
              </a:ext>
            </a:extLst>
          </p:cNvPr>
          <p:cNvSpPr/>
          <p:nvPr/>
        </p:nvSpPr>
        <p:spPr>
          <a:xfrm>
            <a:off x="548640" y="3502824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B75DADE1-3045-3C4D-9C83-59991733BF21}"/>
              </a:ext>
            </a:extLst>
          </p:cNvPr>
          <p:cNvSpPr/>
          <p:nvPr/>
        </p:nvSpPr>
        <p:spPr>
          <a:xfrm>
            <a:off x="777392" y="3783835"/>
            <a:ext cx="2032482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B009138-A198-8EE9-C2F8-68AE7A0E7F8C}"/>
              </a:ext>
            </a:extLst>
          </p:cNvPr>
          <p:cNvSpPr/>
          <p:nvPr/>
        </p:nvSpPr>
        <p:spPr>
          <a:xfrm>
            <a:off x="3489959" y="3589455"/>
            <a:ext cx="6915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accounts_payable.js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468E654-5CA2-5EBE-B957-11BF44AEF20D}"/>
              </a:ext>
            </a:extLst>
          </p:cNvPr>
          <p:cNvSpPr/>
          <p:nvPr/>
        </p:nvSpPr>
        <p:spPr>
          <a:xfrm>
            <a:off x="3489958" y="3918639"/>
            <a:ext cx="79857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跨 App </a:t>
            </a:r>
            <a:r>
              <a:rPr lang="en-US" altLang="zh-TW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參照</a:t>
            </a:r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ID（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廠商資料</a:t>
            </a:r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／ 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採購進貨單</a:t>
            </a:r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，處理</a:t>
            </a:r>
            <a:r>
              <a:rPr lang="en-US" altLang="zh-TW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廠商折讓查詢、採購單核銷回寫</a:t>
            </a:r>
            <a:endParaRPr lang="en-US" altLang="zh-TW" sz="14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32B3F9F5-43AF-81EA-EA2C-7C56231CB237}"/>
              </a:ext>
            </a:extLst>
          </p:cNvPr>
          <p:cNvSpPr/>
          <p:nvPr/>
        </p:nvSpPr>
        <p:spPr>
          <a:xfrm>
            <a:off x="777392" y="3783835"/>
            <a:ext cx="2032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4-1 應付款項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EFE3C413-EDFF-9D0C-E300-7CEDFB9A6EAA}"/>
              </a:ext>
            </a:extLst>
          </p:cNvPr>
          <p:cNvSpPr/>
          <p:nvPr/>
        </p:nvSpPr>
        <p:spPr>
          <a:xfrm>
            <a:off x="548792" y="4842575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A7805DDF-BFA5-F26B-3997-429FF3B2BB31}"/>
              </a:ext>
            </a:extLst>
          </p:cNvPr>
          <p:cNvSpPr/>
          <p:nvPr/>
        </p:nvSpPr>
        <p:spPr>
          <a:xfrm>
            <a:off x="777392" y="5128391"/>
            <a:ext cx="2032483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5E3C04D3-89F0-4276-59B3-E3E42253EA35}"/>
              </a:ext>
            </a:extLst>
          </p:cNvPr>
          <p:cNvSpPr/>
          <p:nvPr/>
        </p:nvSpPr>
        <p:spPr>
          <a:xfrm>
            <a:off x="3489959" y="4934011"/>
            <a:ext cx="69151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receivable.js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4E48977-2E25-0736-4C04-DF3911B7EB87}"/>
              </a:ext>
            </a:extLst>
          </p:cNvPr>
          <p:cNvSpPr/>
          <p:nvPr/>
        </p:nvSpPr>
        <p:spPr>
          <a:xfrm>
            <a:off x="3489960" y="5263195"/>
            <a:ext cx="7509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跨 App </a:t>
            </a:r>
            <a:r>
              <a:rPr lang="en-US" altLang="zh-TW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參照</a:t>
            </a:r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ID（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銷貨出貨單</a:t>
            </a:r>
            <a:r>
              <a:rPr lang="en-US" altLang="zh-TW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 </a:t>
            </a:r>
            <a:r>
              <a:rPr lang="zh-TW" alt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客戶未結案單據帶入、銷貨單核銷回寫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62BF42E9-87C2-C946-3418-39F877644F95}"/>
              </a:ext>
            </a:extLst>
          </p:cNvPr>
          <p:cNvSpPr/>
          <p:nvPr/>
        </p:nvSpPr>
        <p:spPr>
          <a:xfrm>
            <a:off x="777392" y="5128391"/>
            <a:ext cx="2032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4-2 應收款項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DF57B0C-22CE-BC64-123D-7124DA54AAA2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JS CUSTOMIZATION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278DC195-4524-3A8B-519D-85D9DC5B2598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客製化 </a:t>
            </a:r>
            <a:r>
              <a:rPr lang="en-US" altLang="zh-TW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JS </a:t>
            </a:r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設定與上傳</a:t>
            </a:r>
          </a:p>
        </p:txBody>
      </p:sp>
    </p:spTree>
    <p:extLst>
      <p:ext uri="{BB962C8B-B14F-4D97-AF65-F5344CB8AC3E}">
        <p14:creationId xmlns:p14="http://schemas.microsoft.com/office/powerpoint/2010/main" val="2768105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4D610D-0562-51BF-0A28-37A5100B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B11C7A-4A18-3733-B69F-D6D8FBB01610}"/>
              </a:ext>
            </a:extLst>
          </p:cNvPr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inventory_index.js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E20083-8071-8910-C217-ACABAE208B12}"/>
              </a:ext>
            </a:extLst>
          </p:cNvPr>
          <p:cNvSpPr/>
          <p:nvPr/>
        </p:nvSpPr>
        <p:spPr>
          <a:xfrm>
            <a:off x="548640" y="206684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需確認清單「庫存一覽」的視圖 ID：設定 → 清單 → 庫存一覽 → 清單 ID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BA49DE-C2A6-CEC1-3A68-262E875269B1}"/>
              </a:ext>
            </a:extLst>
          </p:cNvPr>
          <p:cNvSpPr/>
          <p:nvPr/>
        </p:nvSpPr>
        <p:spPr>
          <a:xfrm>
            <a:off x="548640" y="2377439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42033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7818DF-55BF-37DB-723F-2C705FEE95DD}"/>
              </a:ext>
            </a:extLst>
          </p:cNvPr>
          <p:cNvSpPr/>
          <p:nvPr/>
        </p:nvSpPr>
        <p:spPr>
          <a:xfrm>
            <a:off x="804672" y="2744669"/>
            <a:ext cx="5248656" cy="31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var TARGET_VIEW_ID = 11217235;// 清單「庫存一覽」的視圖 ID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B57D9A-7891-BDBB-C964-2E89A5F5E10F}"/>
              </a:ext>
            </a:extLst>
          </p:cNvPr>
          <p:cNvSpPr/>
          <p:nvPr/>
        </p:nvSpPr>
        <p:spPr>
          <a:xfrm>
            <a:off x="548640" y="339655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inventory_detail.js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DD135F0-5DB5-096F-6386-6C82EB43C3EA}"/>
              </a:ext>
            </a:extLst>
          </p:cNvPr>
          <p:cNvSpPr/>
          <p:nvPr/>
        </p:nvSpPr>
        <p:spPr>
          <a:xfrm>
            <a:off x="548640" y="373488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需修改</a:t>
            </a: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採購進貨單、銷貨出貨單、調撥單的</a:t>
            </a:r>
            <a:r>
              <a:rPr 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ID：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15D5FD-0F3A-2812-5C73-CDFA3D05F5B8}"/>
              </a:ext>
            </a:extLst>
          </p:cNvPr>
          <p:cNvSpPr/>
          <p:nvPr/>
        </p:nvSpPr>
        <p:spPr>
          <a:xfrm>
            <a:off x="548640" y="4036634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142033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58B0DC-3424-498B-D84E-E4DED10CB527}"/>
              </a:ext>
            </a:extLst>
          </p:cNvPr>
          <p:cNvSpPr/>
          <p:nvPr/>
        </p:nvSpPr>
        <p:spPr>
          <a:xfrm>
            <a:off x="804672" y="4293254"/>
            <a:ext cx="5248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PURCHASE_APP_ID: 2287,  // 採購單 App ID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SALES_APP_ID: 2288,     // 銷貨單 App ID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TRANSFER_APP_ID: 2291,  // 調撥單 App ID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71BF93A-A70D-C5EA-1C95-77B9239BF4CE}"/>
              </a:ext>
            </a:extLst>
          </p:cNvPr>
          <p:cNvSpPr/>
          <p:nvPr/>
        </p:nvSpPr>
        <p:spPr>
          <a:xfrm>
            <a:off x="6583680" y="1691640"/>
            <a:ext cx="5059375" cy="3977640"/>
          </a:xfrm>
          <a:prstGeom prst="roundRect">
            <a:avLst>
              <a:gd name="adj" fmla="val 1839"/>
            </a:avLst>
          </a:prstGeom>
          <a:solidFill>
            <a:srgbClr val="FFFBEB"/>
          </a:solidFill>
          <a:ln w="15875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786CED-38F9-33AD-4C52-1433F41FB544}"/>
              </a:ext>
            </a:extLst>
          </p:cNvPr>
          <p:cNvSpPr/>
          <p:nvPr/>
        </p:nvSpPr>
        <p:spPr>
          <a:xfrm>
            <a:off x="6784848" y="1819656"/>
            <a:ext cx="4657039" cy="35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註</a:t>
            </a:r>
            <a:r>
              <a:rPr lang="en-US" altLang="zh-TW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：每套部署環境的 </a:t>
            </a:r>
            <a:r>
              <a:rPr 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App ID </a:t>
            </a: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皆不同</a:t>
            </a:r>
            <a:endParaRPr lang="en-US" sz="1400" b="1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除了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App ID 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以外，程式內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FIELDS 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的內容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也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分別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對應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至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採購單／銷貨單／調撥單三個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App，若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有修改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欄位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代碼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，也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務必要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同步更新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JS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，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否則進出貨紀錄與區間統計會悄悄漏資料且不會報錯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。</a:t>
            </a:r>
            <a:endParaRPr lang="en-US" altLang="zh-TW" sz="14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57F91A0-3617-8C04-6FD6-E2A1642E10B9}"/>
              </a:ext>
            </a:extLst>
          </p:cNvPr>
          <p:cNvSpPr/>
          <p:nvPr/>
        </p:nvSpPr>
        <p:spPr>
          <a:xfrm>
            <a:off x="6784848" y="2093976"/>
            <a:ext cx="4657039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9A2E522-C759-9ED1-4FAA-6EAE53A1A8C5}"/>
              </a:ext>
            </a:extLst>
          </p:cNvPr>
          <p:cNvSpPr/>
          <p:nvPr/>
        </p:nvSpPr>
        <p:spPr>
          <a:xfrm>
            <a:off x="548640" y="540380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inventory_index.css</a:t>
            </a:r>
            <a:r>
              <a:rPr lang="zh-TW" alt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、</a:t>
            </a: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inventory_detail.css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7F14290-7AD5-BB5F-E8C9-33D161A67C34}"/>
              </a:ext>
            </a:extLst>
          </p:cNvPr>
          <p:cNvSpPr/>
          <p:nvPr/>
        </p:nvSpPr>
        <p:spPr>
          <a:xfrm>
            <a:off x="548640" y="572384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不用修改，但要確定有上傳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D1F3A83-D82B-D7A4-4F39-B12B1ACDC6C3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INVENTORY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2D5BFCE-C42B-8465-CF0F-28225D6BA46B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1-1 </a:t>
            </a:r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庫存總表</a:t>
            </a:r>
          </a:p>
        </p:txBody>
      </p:sp>
    </p:spTree>
    <p:extLst>
      <p:ext uri="{BB962C8B-B14F-4D97-AF65-F5344CB8AC3E}">
        <p14:creationId xmlns:p14="http://schemas.microsoft.com/office/powerpoint/2010/main" val="352640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DBD4E4-5B70-F036-E0A1-4839B902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6731A9-1F94-41F9-6CE6-EF9B0371B735}"/>
              </a:ext>
            </a:extLst>
          </p:cNvPr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accounts_payable.js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3FD05E-E135-A49F-A73D-283B3E0745D9}"/>
              </a:ext>
            </a:extLst>
          </p:cNvPr>
          <p:cNvSpPr/>
          <p:nvPr/>
        </p:nvSpPr>
        <p:spPr>
          <a:xfrm>
            <a:off x="548640" y="243230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4203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CDB493-7866-40B0-AF0B-E9051CDDFA88}"/>
              </a:ext>
            </a:extLst>
          </p:cNvPr>
          <p:cNvSpPr/>
          <p:nvPr/>
        </p:nvSpPr>
        <p:spPr>
          <a:xfrm>
            <a:off x="804672" y="2652054"/>
            <a:ext cx="5248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const VENDOR_APP_ID = 2254;  // 0-3 廠商資料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const PO_APP_ID = 2259;      // 2-1 採購進貨單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B15FE8-F1FD-E1AD-1837-625B76799259}"/>
              </a:ext>
            </a:extLst>
          </p:cNvPr>
          <p:cNvSpPr/>
          <p:nvPr/>
        </p:nvSpPr>
        <p:spPr>
          <a:xfrm>
            <a:off x="548640" y="206684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5D5034D-BFB3-D522-2526-E21DE6B56E0B}"/>
              </a:ext>
            </a:extLst>
          </p:cNvPr>
          <p:cNvSpPr/>
          <p:nvPr/>
        </p:nvSpPr>
        <p:spPr>
          <a:xfrm>
            <a:off x="548640" y="373045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receivable.js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2F0CF7F-BB47-2D06-5E12-42F5015F8A7D}"/>
              </a:ext>
            </a:extLst>
          </p:cNvPr>
          <p:cNvSpPr/>
          <p:nvPr/>
        </p:nvSpPr>
        <p:spPr>
          <a:xfrm>
            <a:off x="548640" y="4471119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142033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721F4C2-ACFC-9A58-607E-C9FB2CE608B0}"/>
              </a:ext>
            </a:extLst>
          </p:cNvPr>
          <p:cNvSpPr/>
          <p:nvPr/>
        </p:nvSpPr>
        <p:spPr>
          <a:xfrm>
            <a:off x="804672" y="4828029"/>
            <a:ext cx="5248656" cy="33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const SALES_APP_ID = 2288;  // 3-1 </a:t>
            </a:r>
            <a:r>
              <a:rPr lang="zh-TW" altLang="en-US" sz="1300" dirty="0">
                <a:solidFill>
                  <a:srgbClr val="D6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銷貨出貨單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6D3E0C6-0B95-70C7-AC8D-63C71DD706E0}"/>
              </a:ext>
            </a:extLst>
          </p:cNvPr>
          <p:cNvSpPr/>
          <p:nvPr/>
        </p:nvSpPr>
        <p:spPr>
          <a:xfrm>
            <a:off x="548640" y="4105657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應收款項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2340F5D-6AB7-09CA-6D29-0E78B2230FC1}"/>
              </a:ext>
            </a:extLst>
          </p:cNvPr>
          <p:cNvSpPr/>
          <p:nvPr/>
        </p:nvSpPr>
        <p:spPr>
          <a:xfrm>
            <a:off x="6583680" y="1691640"/>
            <a:ext cx="5059375" cy="3977640"/>
          </a:xfrm>
          <a:prstGeom prst="roundRect">
            <a:avLst>
              <a:gd name="adj" fmla="val 1839"/>
            </a:avLst>
          </a:prstGeom>
          <a:solidFill>
            <a:srgbClr val="FFFBEB"/>
          </a:solidFill>
          <a:ln w="15875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0EA6BC2-4AAF-F6D9-132C-33B28E2D4D49}"/>
              </a:ext>
            </a:extLst>
          </p:cNvPr>
          <p:cNvSpPr/>
          <p:nvPr/>
        </p:nvSpPr>
        <p:spPr>
          <a:xfrm>
            <a:off x="6784848" y="1819656"/>
            <a:ext cx="4657039" cy="35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註</a:t>
            </a:r>
            <a:r>
              <a:rPr lang="en-US" altLang="zh-TW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：每套部署環境的 </a:t>
            </a:r>
            <a:r>
              <a:rPr 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App ID </a:t>
            </a:r>
            <a:r>
              <a:rPr lang="zh-TW" altLang="en-US" sz="140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皆不同</a:t>
            </a:r>
            <a:endParaRPr lang="en-US" sz="1400" b="1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除了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App ID 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以外，程式內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FIELDS 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的內容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也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分別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對應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至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採購單／銷貨單／調撥單三個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App，若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有修改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欄位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代碼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，也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務必要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同步更新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JS</a:t>
            </a:r>
            <a:r>
              <a:rPr lang="zh-TW" altLang="en-US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，</a:t>
            </a:r>
            <a:r>
              <a:rPr lang="en-US" altLang="zh-TW" sz="14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否則進出貨紀錄與區間統計會悄悄漏資料且不會報錯</a:t>
            </a:r>
            <a:r>
              <a:rPr lang="en-US" altLang="zh-TW" sz="14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。</a:t>
            </a:r>
            <a:endParaRPr lang="en-US" altLang="zh-TW" sz="14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8C2841E-4FCC-2BB5-D3FD-7D17BA5971C7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PAYMENT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E488D702-AB4E-459F-7FEF-8F5A41396964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應付款項／應收款項</a:t>
            </a:r>
          </a:p>
        </p:txBody>
      </p:sp>
    </p:spTree>
    <p:extLst>
      <p:ext uri="{BB962C8B-B14F-4D97-AF65-F5344CB8AC3E}">
        <p14:creationId xmlns:p14="http://schemas.microsoft.com/office/powerpoint/2010/main" val="54320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9BF9109-E278-5863-3E3B-4D1202A5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7A5557-F686-9C27-AC0A-8908AC3CCABB}"/>
              </a:ext>
            </a:extLst>
          </p:cNvPr>
          <p:cNvSpPr/>
          <p:nvPr/>
        </p:nvSpPr>
        <p:spPr>
          <a:xfrm>
            <a:off x="548640" y="1856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D81885-1393-BE0A-D457-80666ABCC711}"/>
              </a:ext>
            </a:extLst>
          </p:cNvPr>
          <p:cNvSpPr/>
          <p:nvPr/>
        </p:nvSpPr>
        <p:spPr>
          <a:xfrm>
            <a:off x="960120" y="1773936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是否已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更新 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JS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檔案內的 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APP ID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，如有修改欄位代碼，也需要一併更新</a:t>
            </a:r>
            <a:endParaRPr lang="en-US" altLang="zh-TW" sz="14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（inventory_detail.js／accounts_payable.js／receivable.js）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001B65-591A-7B65-8CBF-212AB4A97E35}"/>
              </a:ext>
            </a:extLst>
          </p:cNvPr>
          <p:cNvSpPr/>
          <p:nvPr/>
        </p:nvSpPr>
        <p:spPr>
          <a:xfrm>
            <a:off x="548640" y="261518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B0B7DE-AF9E-A928-F745-59DEDB711A7F}"/>
              </a:ext>
            </a:extLst>
          </p:cNvPr>
          <p:cNvSpPr/>
          <p:nvPr/>
        </p:nvSpPr>
        <p:spPr>
          <a:xfrm>
            <a:off x="960120" y="2532888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是否已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上傳 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JS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檔案</a:t>
            </a:r>
            <a:endParaRPr lang="en-US" altLang="zh-TW" sz="14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</a:t>
            </a:r>
            <a:r>
              <a:rPr lang="en-US" altLang="zh-TW" sz="1400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inventory_index.js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／</a:t>
            </a:r>
            <a:r>
              <a:rPr lang="en-US" altLang="zh-TW" sz="1400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 inventory_index.css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／ inventory_detail.js／ inventory_detail.css／ accounts_payable.js／receivable.js）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62B1E48-B8C3-D38A-879B-107E1210AEFB}"/>
              </a:ext>
            </a:extLst>
          </p:cNvPr>
          <p:cNvSpPr/>
          <p:nvPr/>
        </p:nvSpPr>
        <p:spPr>
          <a:xfrm>
            <a:off x="548640" y="33741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8A6521F-C51B-663E-7B6F-42E2F7C21F4C}"/>
              </a:ext>
            </a:extLst>
          </p:cNvPr>
          <p:cNvSpPr/>
          <p:nvPr/>
        </p:nvSpPr>
        <p:spPr>
          <a:xfrm>
            <a:off x="960120" y="3387703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自動編號外掛是否已於除「庫存總表」外的所有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完成設定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DFE08B5-52DD-C0EA-0D81-23C786AFB14E}"/>
              </a:ext>
            </a:extLst>
          </p:cNvPr>
          <p:cNvSpPr/>
          <p:nvPr/>
        </p:nvSpPr>
        <p:spPr>
          <a:xfrm>
            <a:off x="548640" y="41330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2593B6-782F-D04F-295E-C081E797CF31}"/>
              </a:ext>
            </a:extLst>
          </p:cNvPr>
          <p:cNvSpPr/>
          <p:nvPr/>
        </p:nvSpPr>
        <p:spPr>
          <a:xfrm>
            <a:off x="960120" y="4146655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如果在採購進貨單、銷貨出貨單、調撥單啟用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條碼掃描外掛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關聯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App ID 與掃描按鈕元素 ID 是否正確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40A690-D5AF-DEA2-0968-CBDCA768FAC4}"/>
              </a:ext>
            </a:extLst>
          </p:cNvPr>
          <p:cNvSpPr/>
          <p:nvPr/>
        </p:nvSpPr>
        <p:spPr>
          <a:xfrm>
            <a:off x="548640" y="4892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EBA139-AE79-7497-11F4-1B553629B419}"/>
              </a:ext>
            </a:extLst>
          </p:cNvPr>
          <p:cNvSpPr/>
          <p:nvPr/>
        </p:nvSpPr>
        <p:spPr>
          <a:xfrm>
            <a:off x="960120" y="4794996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「庫存總表」清單「庫存一覽」的視圖 ID 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是否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正確</a:t>
            </a:r>
            <a:endParaRPr lang="en-US" altLang="zh-TW" sz="140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</a:t>
            </a:r>
            <a:r>
              <a:rPr lang="en-US" altLang="zh-TW" sz="1400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inventory_index.js</a:t>
            </a:r>
            <a:r>
              <a:rPr lang="zh-TW" altLang="en-US" sz="1400" dirty="0">
                <a:solidFill>
                  <a:srgbClr val="1B244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6E2E710-4E9A-2916-91C8-809A4F906708}"/>
              </a:ext>
            </a:extLst>
          </p:cNvPr>
          <p:cNvSpPr/>
          <p:nvPr/>
        </p:nvSpPr>
        <p:spPr>
          <a:xfrm>
            <a:off x="548640" y="56509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B88B1C0-0397-8524-3D91-20A27752CDBE}"/>
              </a:ext>
            </a:extLst>
          </p:cNvPr>
          <p:cNvSpPr/>
          <p:nvPr/>
        </p:nvSpPr>
        <p:spPr>
          <a:xfrm>
            <a:off x="960120" y="5679307"/>
            <a:ext cx="10682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完成設定後，建議實際跑一次全流程測試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96AE9A1-3F1C-90D0-4F5D-150041E55A5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1C729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SUMMARIZ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0619A6F-CCB4-95D1-1900-F9EA6F49FF94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開發者篇｜部署前檢查清單</a:t>
            </a:r>
          </a:p>
        </p:txBody>
      </p:sp>
    </p:spTree>
    <p:extLst>
      <p:ext uri="{BB962C8B-B14F-4D97-AF65-F5344CB8AC3E}">
        <p14:creationId xmlns:p14="http://schemas.microsoft.com/office/powerpoint/2010/main" val="1829330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2F339F-F225-45A0-5A70-83AD1330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12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3100D73-8A43-7FAB-E9D6-968F9C7B287F}"/>
              </a:ext>
            </a:extLst>
          </p:cNvPr>
          <p:cNvSpPr/>
          <p:nvPr/>
        </p:nvSpPr>
        <p:spPr>
          <a:xfrm>
            <a:off x="3091262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PART </a:t>
            </a:r>
            <a:r>
              <a:rPr lang="en-US" altLang="zh-TW" sz="1500" b="1" kern="0" spc="200" dirty="0">
                <a:solidFill>
                  <a:srgbClr val="8FC1D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AEDE8D0-8C80-ED70-BDA6-3977FB1321BB}"/>
              </a:ext>
            </a:extLst>
          </p:cNvPr>
          <p:cNvSpPr/>
          <p:nvPr/>
        </p:nvSpPr>
        <p:spPr>
          <a:xfrm>
            <a:off x="3091262" y="2926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使用者篇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188378D-F186-3B1C-94F9-409900306F36}"/>
              </a:ext>
            </a:extLst>
          </p:cNvPr>
          <p:cNvSpPr/>
          <p:nvPr/>
        </p:nvSpPr>
        <p:spPr>
          <a:xfrm>
            <a:off x="3091262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700" dirty="0">
                <a:solidFill>
                  <a:srgbClr val="C7DCE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日常操作流程與使用說明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43D961E-1D9A-BFBC-6C5E-0C090229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08" y="27800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6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32D200-C165-B41A-161B-E235AA35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D5CB9EF-4DE4-5185-ED87-D6131C8D787E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4654FC22-939C-0BB7-3090-16E096FC0FE0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71C100C-BDA2-F4B1-327A-1AAA4AAF1588}"/>
              </a:ext>
            </a:extLst>
          </p:cNvPr>
          <p:cNvSpPr/>
          <p:nvPr/>
        </p:nvSpPr>
        <p:spPr>
          <a:xfrm>
            <a:off x="1152144" y="1952389"/>
            <a:ext cx="6071616" cy="63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至「0-4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商品資料」新增商品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896A4E68-4FF8-3369-580E-867EBD474863}"/>
              </a:ext>
            </a:extLst>
          </p:cNvPr>
          <p:cNvSpPr/>
          <p:nvPr/>
        </p:nvSpPr>
        <p:spPr>
          <a:xfrm>
            <a:off x="548640" y="2546551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51637137-EE24-3E4A-C995-E2DB7C7E755D}"/>
              </a:ext>
            </a:extLst>
          </p:cNvPr>
          <p:cNvSpPr/>
          <p:nvPr/>
        </p:nvSpPr>
        <p:spPr>
          <a:xfrm>
            <a:off x="548640" y="25465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DDCFD01-9DDF-ACAB-A946-418064DBFB3F}"/>
              </a:ext>
            </a:extLst>
          </p:cNvPr>
          <p:cNvSpPr/>
          <p:nvPr/>
        </p:nvSpPr>
        <p:spPr>
          <a:xfrm>
            <a:off x="1152144" y="2624420"/>
            <a:ext cx="6071616" cy="52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供應商選單子表格務必填入</a:t>
            </a:r>
            <a:r>
              <a:rPr lang="en-US" altLang="zh-TW" sz="1400" b="1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條碼編號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、廠商名稱與廠商定價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732E5C3-F84F-D7FE-8594-EAF44E52FD4B}"/>
              </a:ext>
            </a:extLst>
          </p:cNvPr>
          <p:cNvSpPr/>
          <p:nvPr/>
        </p:nvSpPr>
        <p:spPr>
          <a:xfrm>
            <a:off x="548640" y="323409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1E2598B5-1D28-C739-6625-160D7E543EC2}"/>
              </a:ext>
            </a:extLst>
          </p:cNvPr>
          <p:cNvSpPr/>
          <p:nvPr/>
        </p:nvSpPr>
        <p:spPr>
          <a:xfrm>
            <a:off x="548640" y="32340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2B802E21-B791-FD94-797D-42E73F9905AC}"/>
              </a:ext>
            </a:extLst>
          </p:cNvPr>
          <p:cNvSpPr/>
          <p:nvPr/>
        </p:nvSpPr>
        <p:spPr>
          <a:xfrm>
            <a:off x="1152144" y="3311959"/>
            <a:ext cx="6071616" cy="52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至「1-1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庫存總表」新增該商品的庫存記錄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選擇倉庫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並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設定安全庫存量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D6D09E40-22D3-E6BE-0517-994734DE1555}"/>
              </a:ext>
            </a:extLst>
          </p:cNvPr>
          <p:cNvSpPr/>
          <p:nvPr/>
        </p:nvSpPr>
        <p:spPr>
          <a:xfrm>
            <a:off x="556014" y="3924999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96F9E939-49CA-2A1C-D46E-F66DC5FD0CB2}"/>
              </a:ext>
            </a:extLst>
          </p:cNvPr>
          <p:cNvSpPr/>
          <p:nvPr/>
        </p:nvSpPr>
        <p:spPr>
          <a:xfrm>
            <a:off x="548640" y="3925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669716D-4013-A0C3-9775-CF211B125E4D}"/>
              </a:ext>
            </a:extLst>
          </p:cNvPr>
          <p:cNvSpPr/>
          <p:nvPr/>
        </p:nvSpPr>
        <p:spPr>
          <a:xfrm>
            <a:off x="1152144" y="3988115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若同一商品在多個倉庫都有存放，需分別建立各倉庫的庫存紀錄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C426E811-D359-C63E-2566-87D00249FDF0}"/>
              </a:ext>
            </a:extLst>
          </p:cNvPr>
          <p:cNvSpPr/>
          <p:nvPr/>
        </p:nvSpPr>
        <p:spPr>
          <a:xfrm>
            <a:off x="556014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EE110DD3-30F0-6264-C67C-B8E3E0FDAE79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定價小提醒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2369C4DF-2981-7788-2E99-93314FBFE6B1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填寫 </a:t>
            </a:r>
            <a:r>
              <a:rPr lang="en-US" altLang="ja-JP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2-1 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採購進貨單時，商品價格資訊會依「 </a:t>
            </a:r>
            <a:r>
              <a:rPr lang="en-US" altLang="ja-JP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0-2 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客戶資料」中的客戶類型，動態代入零售價</a:t>
            </a: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、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批發價</a:t>
            </a: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、</a:t>
            </a:r>
            <a:r>
              <a:rPr lang="ja-JP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網路價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1B40012-D55C-536D-B376-710EF6336761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PRODUCT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1ECD1B5-46E2-185B-7A8E-B70721C7DD1D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新增商品</a:t>
            </a:r>
          </a:p>
        </p:txBody>
      </p:sp>
    </p:spTree>
    <p:extLst>
      <p:ext uri="{BB962C8B-B14F-4D97-AF65-F5344CB8AC3E}">
        <p14:creationId xmlns:p14="http://schemas.microsoft.com/office/powerpoint/2010/main" val="3101221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29F7A7D-7FBF-9F88-979A-563F5CB0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8CC1E16-35F7-CC5F-FA86-D53490187573}"/>
              </a:ext>
            </a:extLst>
          </p:cNvPr>
          <p:cNvSpPr/>
          <p:nvPr/>
        </p:nvSpPr>
        <p:spPr>
          <a:xfrm>
            <a:off x="548640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8D41D89-253C-A451-058C-213FC6F5BE77}"/>
              </a:ext>
            </a:extLst>
          </p:cNvPr>
          <p:cNvSpPr/>
          <p:nvPr/>
        </p:nvSpPr>
        <p:spPr>
          <a:xfrm>
            <a:off x="749808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累計入庫量／累計出庫量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2231878-6E83-2541-D234-94A27DC39F1C}"/>
              </a:ext>
            </a:extLst>
          </p:cNvPr>
          <p:cNvSpPr/>
          <p:nvPr/>
        </p:nvSpPr>
        <p:spPr>
          <a:xfrm>
            <a:off x="749808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倉庫庫存總帳，含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採購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銷貨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所有來源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AA8978B-6C5A-0877-7129-7A5F7E436AB5}"/>
              </a:ext>
            </a:extLst>
          </p:cNvPr>
          <p:cNvSpPr/>
          <p:nvPr/>
        </p:nvSpPr>
        <p:spPr>
          <a:xfrm>
            <a:off x="4322978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05897B5-5CD2-8BFD-7853-F10E14A62638}"/>
              </a:ext>
            </a:extLst>
          </p:cNvPr>
          <p:cNvSpPr/>
          <p:nvPr/>
        </p:nvSpPr>
        <p:spPr>
          <a:xfrm>
            <a:off x="4524146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預約保留量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2D33CFF-2A47-4820-8750-17B7C3D55D41}"/>
              </a:ext>
            </a:extLst>
          </p:cNvPr>
          <p:cNvSpPr/>
          <p:nvPr/>
        </p:nvSpPr>
        <p:spPr>
          <a:xfrm>
            <a:off x="4524146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來自尚未結案的出貨單，或調撥中的貨量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8F23A85A-CEC1-9D71-81F8-BE3DC63AE26F}"/>
              </a:ext>
            </a:extLst>
          </p:cNvPr>
          <p:cNvSpPr/>
          <p:nvPr/>
        </p:nvSpPr>
        <p:spPr>
          <a:xfrm>
            <a:off x="8097317" y="182880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033E4D6-DFCC-8B71-8778-4A5DEA6C1280}"/>
              </a:ext>
            </a:extLst>
          </p:cNvPr>
          <p:cNvSpPr/>
          <p:nvPr/>
        </p:nvSpPr>
        <p:spPr>
          <a:xfrm>
            <a:off x="8298485" y="2011680"/>
            <a:ext cx="3143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651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低庫存提醒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2E36903-7C03-D5DC-DB46-8525115B155C}"/>
              </a:ext>
            </a:extLst>
          </p:cNvPr>
          <p:cNvSpPr/>
          <p:nvPr/>
        </p:nvSpPr>
        <p:spPr>
          <a:xfrm>
            <a:off x="8298485" y="2560320"/>
            <a:ext cx="3143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低於安全庫存量時自動標示，並建議補貨數量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0C7A8B5-68E3-A145-10E1-05B142A8F89A}"/>
              </a:ext>
            </a:extLst>
          </p:cNvPr>
          <p:cNvSpPr/>
          <p:nvPr/>
        </p:nvSpPr>
        <p:spPr>
          <a:xfrm>
            <a:off x="548640" y="3634002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EBAB01D-1591-4F20-EC37-D4D9B1A7549C}"/>
              </a:ext>
            </a:extLst>
          </p:cNvPr>
          <p:cNvSpPr/>
          <p:nvPr/>
        </p:nvSpPr>
        <p:spPr>
          <a:xfrm>
            <a:off x="749808" y="373989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區間統計（僅計採購／銷貨，不含調撥）</a:t>
            </a:r>
            <a:endParaRPr lang="en-US" sz="105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0F3A3FC-91FD-0B34-85FE-F64C4D5B6D26}"/>
              </a:ext>
            </a:extLst>
          </p:cNvPr>
          <p:cNvSpPr/>
          <p:nvPr/>
        </p:nvSpPr>
        <p:spPr>
          <a:xfrm>
            <a:off x="749808" y="4014216"/>
            <a:ext cx="10692079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支援依「本月／本季／本年／累計」查看進貨量、出貨量、淨增量。</a:t>
            </a:r>
            <a:endParaRPr lang="en-US" sz="13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調撥視為內部倉庫間移動，刻意不計入這組區間統計數字，避免與「累計入</a:t>
            </a:r>
            <a:r>
              <a:rPr lang="zh-TW" alt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庫量</a:t>
            </a: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／</a:t>
            </a:r>
            <a:r>
              <a:rPr lang="zh-TW" alt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累計</a:t>
            </a:r>
            <a:r>
              <a:rPr lang="en-US" sz="1300" dirty="0" err="1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出庫量」混淆</a:t>
            </a:r>
            <a:r>
              <a:rPr lang="en-US" sz="13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。</a:t>
            </a:r>
            <a:endParaRPr lang="en-US" sz="1300" dirty="0">
              <a:solidFill>
                <a:srgbClr val="CC6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CFED083B-D1A3-7676-3C1B-14072616032E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STOCK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9483DA7-B919-723E-F247-F4DB43C01060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庫存總表</a:t>
            </a:r>
          </a:p>
        </p:txBody>
      </p:sp>
    </p:spTree>
    <p:extLst>
      <p:ext uri="{BB962C8B-B14F-4D97-AF65-F5344CB8AC3E}">
        <p14:creationId xmlns:p14="http://schemas.microsoft.com/office/powerpoint/2010/main" val="184679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D027FF8-A077-E22A-BAF0-22385C4B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79F7AFA-EF3F-9BF4-7311-6940370369AC}"/>
              </a:ext>
            </a:extLst>
          </p:cNvPr>
          <p:cNvSpPr/>
          <p:nvPr/>
        </p:nvSpPr>
        <p:spPr>
          <a:xfrm>
            <a:off x="548640" y="188366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F98BB71-0E4B-8B0F-CEEF-E8FC854E5CCC}"/>
              </a:ext>
            </a:extLst>
          </p:cNvPr>
          <p:cNvSpPr/>
          <p:nvPr/>
        </p:nvSpPr>
        <p:spPr>
          <a:xfrm>
            <a:off x="5486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3B08C60-E61B-58AC-E714-4D5655316896}"/>
              </a:ext>
            </a:extLst>
          </p:cNvPr>
          <p:cNvSpPr/>
          <p:nvPr/>
        </p:nvSpPr>
        <p:spPr>
          <a:xfrm>
            <a:off x="1152144" y="1948433"/>
            <a:ext cx="103368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選擇廠商後，於採購內容子表格填入商品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支援條碼掃描自動帶入商品名稱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定價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、供應廠商資料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重複掃碼採購數量自動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+1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16D86D54-A81E-15FF-9AC0-950AB255144E}"/>
              </a:ext>
            </a:extLst>
          </p:cNvPr>
          <p:cNvSpPr/>
          <p:nvPr/>
        </p:nvSpPr>
        <p:spPr>
          <a:xfrm>
            <a:off x="548640" y="251194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16B6064-A2D9-A9AB-9A9A-C251D2E725E1}"/>
              </a:ext>
            </a:extLst>
          </p:cNvPr>
          <p:cNvSpPr/>
          <p:nvPr/>
        </p:nvSpPr>
        <p:spPr>
          <a:xfrm>
            <a:off x="548640" y="2511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21C9C3-4063-9798-711B-8D3227278226}"/>
              </a:ext>
            </a:extLst>
          </p:cNvPr>
          <p:cNvSpPr/>
          <p:nvPr/>
        </p:nvSpPr>
        <p:spPr>
          <a:xfrm>
            <a:off x="1152144" y="2575065"/>
            <a:ext cx="606330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填寫「已入庫數量」，庫存總表的進貨量會同步更新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1BD76E15-C7EE-4F00-954C-934C229A77E2}"/>
              </a:ext>
            </a:extLst>
          </p:cNvPr>
          <p:cNvSpPr/>
          <p:nvPr/>
        </p:nvSpPr>
        <p:spPr>
          <a:xfrm>
            <a:off x="548640" y="3169726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359B7ED-B2C6-3012-ECB4-CE4AD1D58754}"/>
              </a:ext>
            </a:extLst>
          </p:cNvPr>
          <p:cNvSpPr/>
          <p:nvPr/>
        </p:nvSpPr>
        <p:spPr>
          <a:xfrm>
            <a:off x="548640" y="316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3D0542F-BF6F-E806-9918-73ECE7A42B8A}"/>
              </a:ext>
            </a:extLst>
          </p:cNvPr>
          <p:cNvSpPr/>
          <p:nvPr/>
        </p:nvSpPr>
        <p:spPr>
          <a:xfrm>
            <a:off x="1152144" y="3234495"/>
            <a:ext cx="98814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可從採購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進貨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單點擊動作按鈕快速建立「應付款項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或手動至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「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4-1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建立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6F4B6855-4527-D85F-24D7-FB2D4F956D56}"/>
              </a:ext>
            </a:extLst>
          </p:cNvPr>
          <p:cNvSpPr/>
          <p:nvPr/>
        </p:nvSpPr>
        <p:spPr>
          <a:xfrm>
            <a:off x="541266" y="3827502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5A77A2B-A8CF-105D-E939-95BB5A48538A}"/>
              </a:ext>
            </a:extLst>
          </p:cNvPr>
          <p:cNvSpPr/>
          <p:nvPr/>
        </p:nvSpPr>
        <p:spPr>
          <a:xfrm>
            <a:off x="541266" y="38275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DB6AD9A-FA3C-2C8E-4238-D5F7709D7999}"/>
              </a:ext>
            </a:extLst>
          </p:cNvPr>
          <p:cNvSpPr/>
          <p:nvPr/>
        </p:nvSpPr>
        <p:spPr>
          <a:xfrm>
            <a:off x="1152145" y="3779890"/>
            <a:ext cx="9881462" cy="716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應付款項付款狀態設為「已付訖」後，會自動回寫採購單為「已立帳核銷</a:t>
            </a: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en-US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並帶入核銷日期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，已立帳核銷的進貨單於編輯時會跳出提示，需謹慎確認修改內容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09E9F597-FFB3-CBD9-C13C-8810203E3A08}"/>
              </a:ext>
            </a:extLst>
          </p:cNvPr>
          <p:cNvSpPr/>
          <p:nvPr/>
        </p:nvSpPr>
        <p:spPr>
          <a:xfrm>
            <a:off x="556014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2AFD1A0-160F-CB32-A6C3-EDAC15ABA9B5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核銷日期小提醒</a:t>
            </a: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2121195-A36F-3E46-FAF4-0EA343F3FCC2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付款狀態為「已付訖」後，自動回填採購進貨單為「已立帳核銷」，並依付款方式回填核銷日期（支票回填預兌日期、匯款回填付款日期）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50CC8E32-8AA4-A6E0-2D13-0928E908A1E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PURCHASE ORDER (PO) 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ECCE6EC-7688-4004-3590-AD16560DE1F9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採購進貨單</a:t>
            </a:r>
          </a:p>
        </p:txBody>
      </p:sp>
    </p:spTree>
    <p:extLst>
      <p:ext uri="{BB962C8B-B14F-4D97-AF65-F5344CB8AC3E}">
        <p14:creationId xmlns:p14="http://schemas.microsoft.com/office/powerpoint/2010/main" val="433565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C9D5-6727-A2A7-6145-A880C365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5C84BC8-7B8C-06D0-8BA5-27666AE3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F67FFD-7B2A-473B-35B2-27C068D526E6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31D698-465F-9005-F6D3-2A77279C8F54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3222C1-2359-6985-1225-899062172BC3}"/>
              </a:ext>
            </a:extLst>
          </p:cNvPr>
          <p:cNvSpPr/>
          <p:nvPr/>
        </p:nvSpPr>
        <p:spPr>
          <a:xfrm>
            <a:off x="1152144" y="1766560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可從採購單點擊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動作按鈕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快速建立「4-1 </a:t>
            </a:r>
            <a:r>
              <a:rPr lang="en-US" altLang="zh-TW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應付款項</a:t>
            </a:r>
            <a:r>
              <a:rPr lang="en-US" altLang="zh-TW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」，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將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自動帶入該採購單的單號與金額資料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；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手動建立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應付單</a:t>
            </a: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時，選擇廠商會自動帶入該廠商所有未結案採購單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418BB8-F1C5-D3E6-C986-7796E7FEFD53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2B204-4C81-4627-F174-0F17E58700B0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8E7478-9A08-EBAE-14F2-B0FFA6ACDA03}"/>
              </a:ext>
            </a:extLst>
          </p:cNvPr>
          <p:cNvSpPr/>
          <p:nvPr/>
        </p:nvSpPr>
        <p:spPr>
          <a:xfrm>
            <a:off x="1152144" y="2806320"/>
            <a:ext cx="104909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可填寫折讓金額，系統即時提示目前可用折讓餘額，超填則擋存檔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2D183F-C9B2-233C-446B-2F0DDB7434AF}"/>
              </a:ext>
            </a:extLst>
          </p:cNvPr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E590C0-87E6-66C7-370A-973A92C829F1}"/>
              </a:ext>
            </a:extLst>
          </p:cNvPr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F9D9BC-60EB-6C50-22F0-6D2871D82916}"/>
              </a:ext>
            </a:extLst>
          </p:cNvPr>
          <p:cNvSpPr/>
          <p:nvPr/>
        </p:nvSpPr>
        <p:spPr>
          <a:xfrm>
            <a:off x="1152144" y="3720720"/>
            <a:ext cx="10490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付款狀態設為「已付訖」後，自動回寫採購單為「已立帳核銷」並帶入核銷日期，同時更新廠商折讓餘額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3142FCF-18F8-DD9C-7BAA-2B40F3C8EBDD}"/>
              </a:ext>
            </a:extLst>
          </p:cNvPr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74E72E-1F82-43CE-DE69-BE8C6CCDD6C8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已結案提醒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3A4F75C-7694-A51D-2F66-69CF84E91530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已立帳核銷的採購單再次編輯時，會跳出提醒：「此進貨單已結案，修改資料請謹慎確認，儲存後無法自動還原」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96D903A-B869-6D07-2E50-EE0810187C91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ACCOUNTS PAYABLE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06CB41FD-5589-9EED-DA01-ABB8F47BDF29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應付款項</a:t>
            </a:r>
          </a:p>
        </p:txBody>
      </p:sp>
    </p:spTree>
    <p:extLst>
      <p:ext uri="{BB962C8B-B14F-4D97-AF65-F5344CB8AC3E}">
        <p14:creationId xmlns:p14="http://schemas.microsoft.com/office/powerpoint/2010/main" val="571678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2CB2CE-DBBD-7C29-0537-D17B28D2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7B5BC46-8630-54C7-E8FF-CDBFE27A3F67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5285FF2-54FE-6DE4-BD31-AE8AD892F5C9}"/>
              </a:ext>
            </a:extLst>
          </p:cNvPr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84844FE-8B4B-CBC8-2CAE-65E221967335}"/>
              </a:ext>
            </a:extLst>
          </p:cNvPr>
          <p:cNvSpPr/>
          <p:nvPr/>
        </p:nvSpPr>
        <p:spPr>
          <a:xfrm>
            <a:off x="1152144" y="195239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選擇客戶後，商品價格會依客戶類型自動代入（零售價／批發價／網路價）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747ABCA5-549A-22FE-6E3B-80D132BD1E5C}"/>
              </a:ext>
            </a:extLst>
          </p:cNvPr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67738AF-87E4-665B-2072-606D9D5D525F}"/>
              </a:ext>
            </a:extLst>
          </p:cNvPr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361DDAC-29F5-AB31-996F-D83CCA48A838}"/>
              </a:ext>
            </a:extLst>
          </p:cNvPr>
          <p:cNvSpPr/>
          <p:nvPr/>
        </p:nvSpPr>
        <p:spPr>
          <a:xfrm>
            <a:off x="1152144" y="291251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於出貨內容子表格選擇商品與出貨倉庫，系統即時顯示目前庫存可用量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7BAF243-FF93-939F-375A-C635C8A29B0F}"/>
              </a:ext>
            </a:extLst>
          </p:cNvPr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CD08739-C1C4-B62F-2C5F-6A842A4B493F}"/>
              </a:ext>
            </a:extLst>
          </p:cNvPr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3606883-32FE-67B6-603F-79C7CFC9317F}"/>
              </a:ext>
            </a:extLst>
          </p:cNvPr>
          <p:cNvSpPr/>
          <p:nvPr/>
        </p:nvSpPr>
        <p:spPr>
          <a:xfrm>
            <a:off x="1152144" y="3872630"/>
            <a:ext cx="104909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尚未結案的出貨單，數量會計入庫存總表的「預約保留量」；確認結案後才會計入「累計出貨量／出貨量」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2058B2A-0AF7-48DE-8A74-15174FDA2FCB}"/>
              </a:ext>
            </a:extLst>
          </p:cNvPr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6D283AF-7670-C8FB-0189-14B969268515}"/>
              </a:ext>
            </a:extLst>
          </p:cNvPr>
          <p:cNvSpPr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2C7429A-84C5-35F5-B53F-00B2F84C5CD1}"/>
              </a:ext>
            </a:extLst>
          </p:cNvPr>
          <p:cNvSpPr/>
          <p:nvPr/>
        </p:nvSpPr>
        <p:spPr>
          <a:xfrm>
            <a:off x="1152144" y="4832750"/>
            <a:ext cx="104909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可單點擊動作按鈕快速建立「應收款項」，或手動至「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4-2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應收款項」建立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585E3AF8-BAB8-6757-6223-79CC8147C286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SHIPPING ORDER (SO)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A36D065-CE95-BAE8-6565-2C26497E7204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銷貨出貨單</a:t>
            </a:r>
          </a:p>
        </p:txBody>
      </p:sp>
    </p:spTree>
    <p:extLst>
      <p:ext uri="{BB962C8B-B14F-4D97-AF65-F5344CB8AC3E}">
        <p14:creationId xmlns:p14="http://schemas.microsoft.com/office/powerpoint/2010/main" val="1382516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30943DE-44B9-2FC4-4E1A-1C6D3149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8FB6D5-F3F6-C382-99D7-5DE89FC077C9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272AD9-11E0-E6CF-5889-FC23A9FFC9D6}"/>
              </a:ext>
            </a:extLst>
          </p:cNvPr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B16170C-0DBB-6D0C-37C3-3695A6682483}"/>
              </a:ext>
            </a:extLst>
          </p:cNvPr>
          <p:cNvSpPr/>
          <p:nvPr/>
        </p:nvSpPr>
        <p:spPr>
          <a:xfrm>
            <a:off x="1152144" y="189192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動作按鈕可自動帶入該銷貨單的單號與金額資料；手動建立時，選擇客戶名稱可自動帶入所有未結案的出貨單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2FB041-640A-FE0C-F0FE-1CF80CC0FD00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7E816C3-BFF2-5039-070E-8D1460DE979A}"/>
              </a:ext>
            </a:extLst>
          </p:cNvPr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E0403A-9804-521A-B067-AD49817D959F}"/>
              </a:ext>
            </a:extLst>
          </p:cNvPr>
          <p:cNvSpPr/>
          <p:nvPr/>
        </p:nvSpPr>
        <p:spPr>
          <a:xfrm>
            <a:off x="1152144" y="2806320"/>
            <a:ext cx="104909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zh-TW" sz="140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收款狀態設為「已全額收訖」後，自動回寫銷貨單為「已立帳核銷</a:t>
            </a:r>
            <a:r>
              <a:rPr lang="en-US" altLang="zh-TW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」</a:t>
            </a:r>
            <a:r>
              <a:rPr lang="zh-TW" altLang="en-US" sz="14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，並依收款方式回填核銷日期（支票回填預兌日期、匯款回填收款日期）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BDD4F78-282E-DE0F-861C-72030215E500}"/>
              </a:ext>
            </a:extLst>
          </p:cNvPr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015304-A2EB-F123-D11D-0CEA32FF95DD}"/>
              </a:ext>
            </a:extLst>
          </p:cNvPr>
          <p:cNvSpPr/>
          <p:nvPr/>
        </p:nvSpPr>
        <p:spPr>
          <a:xfrm>
            <a:off x="749808" y="483717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已結案提醒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B9D6CB6-677E-9E03-0041-CA546AD5720F}"/>
              </a:ext>
            </a:extLst>
          </p:cNvPr>
          <p:cNvSpPr/>
          <p:nvPr/>
        </p:nvSpPr>
        <p:spPr>
          <a:xfrm>
            <a:off x="749808" y="5111496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 pitchFamily="34" charset="-120"/>
              </a:rPr>
              <a:t>已立帳核銷且已結案的出貨單再次編輯時，會跳出提醒：「此出貨單已結案，修改資料請謹慎確認，儲存後無法自動還原」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BF279BB-47AA-8820-2F79-ADD4094C17CD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ACCOUNTS RECEIVABLE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27C1F3B8-E66E-7FDA-010E-72DD12E4A16B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應收款項</a:t>
            </a:r>
          </a:p>
        </p:txBody>
      </p:sp>
    </p:spTree>
    <p:extLst>
      <p:ext uri="{BB962C8B-B14F-4D97-AF65-F5344CB8AC3E}">
        <p14:creationId xmlns:p14="http://schemas.microsoft.com/office/powerpoint/2010/main" val="2731341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61D927-43CE-5862-6079-BFB17A4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F1452E7-962E-D3F9-6BA3-1B364B3DCE3F}"/>
              </a:ext>
            </a:extLst>
          </p:cNvPr>
          <p:cNvSpPr/>
          <p:nvPr/>
        </p:nvSpPr>
        <p:spPr>
          <a:xfrm>
            <a:off x="640080" y="1822308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7C6CF98-8564-42F9-82CE-CD81718411D4}"/>
              </a:ext>
            </a:extLst>
          </p:cNvPr>
          <p:cNvSpPr/>
          <p:nvPr/>
        </p:nvSpPr>
        <p:spPr>
          <a:xfrm>
            <a:off x="640080" y="18223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53E6E1C-E15D-25B0-17EA-3FECFC58AE49}"/>
              </a:ext>
            </a:extLst>
          </p:cNvPr>
          <p:cNvSpPr/>
          <p:nvPr/>
        </p:nvSpPr>
        <p:spPr>
          <a:xfrm>
            <a:off x="1188720" y="1645920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調撥借出：狀態為「已發貨／運輸中」時，庫存表會計入預約保留量；調撥完成後更新累計出庫量與累計入庫量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（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視為內部移動，</a:t>
            </a: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不影響出貨量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）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835E0D77-0948-68D3-323B-109B6582E5A7}"/>
              </a:ext>
            </a:extLst>
          </p:cNvPr>
          <p:cNvSpPr/>
          <p:nvPr/>
        </p:nvSpPr>
        <p:spPr>
          <a:xfrm>
            <a:off x="640080" y="2562972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8F89944-1F43-0491-BA96-C2582B6CF16F}"/>
              </a:ext>
            </a:extLst>
          </p:cNvPr>
          <p:cNvSpPr/>
          <p:nvPr/>
        </p:nvSpPr>
        <p:spPr>
          <a:xfrm>
            <a:off x="640080" y="25629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F51934C-DAB9-A9CE-DDA1-446594FB73AA}"/>
              </a:ext>
            </a:extLst>
          </p:cNvPr>
          <p:cNvSpPr/>
          <p:nvPr/>
        </p:nvSpPr>
        <p:spPr>
          <a:xfrm>
            <a:off x="1188720" y="2386584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借調歸還：可從下拉式選單選擇未歸還的調撥單號自動帶入資料，支援分批歸還，並提示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「可用庫存／剩餘需歸還」，同步產生借還紀錄追蹤明細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D8DA7B0-F85C-4BA3-9F09-C72D3EB28376}"/>
              </a:ext>
            </a:extLst>
          </p:cNvPr>
          <p:cNvSpPr/>
          <p:nvPr/>
        </p:nvSpPr>
        <p:spPr>
          <a:xfrm>
            <a:off x="640080" y="3303636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253E753-F317-F0E4-87DC-12F6C909EFDE}"/>
              </a:ext>
            </a:extLst>
          </p:cNvPr>
          <p:cNvSpPr/>
          <p:nvPr/>
        </p:nvSpPr>
        <p:spPr>
          <a:xfrm>
            <a:off x="640080" y="33036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662B6BA-2148-20CF-5AE3-2D9ADDA45EBC}"/>
              </a:ext>
            </a:extLst>
          </p:cNvPr>
          <p:cNvSpPr/>
          <p:nvPr/>
        </p:nvSpPr>
        <p:spPr>
          <a:xfrm>
            <a:off x="1188720" y="3127248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選擇商品名稱與撥出倉庫後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，</a:t>
            </a: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即時提示</a:t>
            </a:r>
            <a:r>
              <a:rPr lang="en-US" sz="1400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目前庫存可用量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1F4BF809-DDD5-15DB-B52C-8C2B117BE525}"/>
              </a:ext>
            </a:extLst>
          </p:cNvPr>
          <p:cNvSpPr/>
          <p:nvPr/>
        </p:nvSpPr>
        <p:spPr>
          <a:xfrm>
            <a:off x="640080" y="4044300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751F10A-4513-ACC0-FB31-5BBFE1075147}"/>
              </a:ext>
            </a:extLst>
          </p:cNvPr>
          <p:cNvSpPr/>
          <p:nvPr/>
        </p:nvSpPr>
        <p:spPr>
          <a:xfrm>
            <a:off x="640080" y="40443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F2B67A5B-7F28-60E7-A408-9A4F7EB3E265}"/>
              </a:ext>
            </a:extLst>
          </p:cNvPr>
          <p:cNvSpPr/>
          <p:nvPr/>
        </p:nvSpPr>
        <p:spPr>
          <a:xfrm>
            <a:off x="1188720" y="3867912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若撥出或撥入倉庫沒有該商品的庫存紀錄，會跳出防呆提示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B30F3B4-5349-8790-7CFD-3C1EE6A56375}"/>
              </a:ext>
            </a:extLst>
          </p:cNvPr>
          <p:cNvSpPr/>
          <p:nvPr/>
        </p:nvSpPr>
        <p:spPr>
          <a:xfrm>
            <a:off x="640080" y="4784964"/>
            <a:ext cx="384048" cy="384048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5F18EBD-84AD-DF8B-84DA-58F6CFA6591C}"/>
              </a:ext>
            </a:extLst>
          </p:cNvPr>
          <p:cNvSpPr/>
          <p:nvPr/>
        </p:nvSpPr>
        <p:spPr>
          <a:xfrm>
            <a:off x="640080" y="47849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45B2FC8-7451-BFA1-8139-9E6FEC6CFE32}"/>
              </a:ext>
            </a:extLst>
          </p:cNvPr>
          <p:cNvSpPr/>
          <p:nvPr/>
        </p:nvSpPr>
        <p:spPr>
          <a:xfrm>
            <a:off x="1188720" y="4608576"/>
            <a:ext cx="9814255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調撥單一旦發貨，除狀態欄位外其餘欄位鎖定，避免誤改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843688E-5BB2-3653-C5FB-F278DC1E71E6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TRANSFER ORDER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33DFD54-F086-27F8-B8AB-312D3F1B964D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調撥單</a:t>
            </a:r>
          </a:p>
        </p:txBody>
      </p:sp>
    </p:spTree>
    <p:extLst>
      <p:ext uri="{BB962C8B-B14F-4D97-AF65-F5344CB8AC3E}">
        <p14:creationId xmlns:p14="http://schemas.microsoft.com/office/powerpoint/2010/main" val="57263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82FEF8-0081-279F-2A3D-CF778863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20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4AD6FB4-95A9-D0BA-7BEC-B2E121CF5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6165"/>
              </p:ext>
            </p:extLst>
          </p:nvPr>
        </p:nvGraphicFramePr>
        <p:xfrm>
          <a:off x="548640" y="1783080"/>
          <a:ext cx="10911535" cy="429767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訊息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採購進貨單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⚠️ 此商品在此倉庫無庫存建檔紀錄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該倉庫尚未建立此商品的庫存總表紀錄，需先建檔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採購進貨單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</a:t>
                      </a: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已入庫＋退貨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，，超過採購量！</a:t>
                      </a: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入庫與退貨加總不可超過原採購數量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銷貨出貨單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庫存不足！剩餘：xxx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出貨數量超過該倉庫目前可用庫存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銷貨出貨單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⛔ 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存檔失敗：明細中有商品庫存不足或倉庫無庫存。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同一張單多筆明細加總後，仍超過可用庫存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調撥單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</a:t>
                      </a: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撥出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倉庫</a:t>
                      </a: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／撥入倉庫無此商品紀錄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對應倉庫尚未建立此商品的庫存紀錄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應付</a:t>
                      </a:r>
                      <a:r>
                        <a:rPr lang="zh-TW" alt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款項</a:t>
                      </a: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／應收款項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 超過可用折讓餘額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本次折讓金額超過廠商目前的折讓餘額上限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1">
            <a:extLst>
              <a:ext uri="{FF2B5EF4-FFF2-40B4-BE49-F238E27FC236}">
                <a16:creationId xmlns:a16="http://schemas.microsoft.com/office/drawing/2014/main" id="{657577E8-16AE-F91A-6EBA-D9A3FC2D2AD2}"/>
              </a:ext>
            </a:extLst>
          </p:cNvPr>
          <p:cNvSpPr/>
          <p:nvPr/>
        </p:nvSpPr>
        <p:spPr>
          <a:xfrm>
            <a:off x="792328" y="515112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ERROR</a:t>
            </a:r>
            <a:r>
              <a:rPr lang="zh-TW" altLang="en-US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 </a:t>
            </a:r>
            <a:r>
              <a:rPr lang="en-US" altLang="zh-TW" sz="1200" b="1" kern="0" spc="100" dirty="0">
                <a:solidFill>
                  <a:srgbClr val="CC6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MESSAGE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34086AA-7348-42E3-784B-8A6B09D1B791}"/>
              </a:ext>
            </a:extLst>
          </p:cNvPr>
          <p:cNvSpPr/>
          <p:nvPr/>
        </p:nvSpPr>
        <p:spPr>
          <a:xfrm>
            <a:off x="792328" y="8239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常見防呆訊息對照表</a:t>
            </a:r>
          </a:p>
        </p:txBody>
      </p:sp>
    </p:spTree>
    <p:extLst>
      <p:ext uri="{BB962C8B-B14F-4D97-AF65-F5344CB8AC3E}">
        <p14:creationId xmlns:p14="http://schemas.microsoft.com/office/powerpoint/2010/main" val="299249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54C7A-CA62-E050-5B92-BFC292FB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B2381-8184-45B5-ADDF-E81116BDA999}" type="slidenum">
              <a:rPr lang="zh-TW" altLang="en-US" smtClean="0"/>
              <a:pPr/>
              <a:t>21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4627725-196D-C4DC-7345-DA2E55CF7022}"/>
              </a:ext>
            </a:extLst>
          </p:cNvPr>
          <p:cNvSpPr/>
          <p:nvPr/>
        </p:nvSpPr>
        <p:spPr>
          <a:xfrm>
            <a:off x="5638648" y="19202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6627F68-5680-DA01-788B-E598AEA84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64" y="2048256"/>
            <a:ext cx="658368" cy="65836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EFB8CEB-CE52-9F6A-973C-68734F25A6D6}"/>
              </a:ext>
            </a:extLst>
          </p:cNvPr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感謝閱讀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8889DFA-2867-2412-6DEE-BD3A2F4C3299}"/>
              </a:ext>
            </a:extLst>
          </p:cNvPr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如有設定或操作上的問題，歡迎隨時與威志雲端聯繫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71C71C6-36E1-A4CC-477B-FD7FA28AD6EC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63D6FED-FD5E-DFCE-66FF-A1787FA0FAAC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94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1495</Words>
  <Application>Microsoft Office PowerPoint</Application>
  <PresentationFormat>寬螢幕</PresentationFormat>
  <Paragraphs>265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微軟正黑體</vt:lpstr>
      <vt:lpstr>Arial</vt:lpstr>
      <vt:lpstr>Calibri</vt:lpstr>
      <vt:lpstr>Courier New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NIU</dc:creator>
  <cp:lastModifiedBy>NANA NIU</cp:lastModifiedBy>
  <cp:revision>7</cp:revision>
  <dcterms:created xsi:type="dcterms:W3CDTF">2026-07-03T08:07:20Z</dcterms:created>
  <dcterms:modified xsi:type="dcterms:W3CDTF">2026-07-16T07:19:04Z</dcterms:modified>
</cp:coreProperties>
</file>